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Aseef Ahmed, MS Data Science, roll number DS-029/2025/26, supervised by Dr. Maria Andaleeb Siddiqui. My thesis builds HeatFlood Sentinel: a Big Data and deep-learning pipeline that forecasts temperature and precipitation and detects heatwaves and flash-flood risk for 20 Pakistani cities. Two scoping facts up front: every thesis result uses ERA5 reanalysis for 2015-2022 with 2022 held out as the test year; and the Hadoop, Spark and Kafka results I show later were run on a single-node pseudo-distributed cluster, not a multi-node cluster. The date and examiner names on this slide are placeholders to be filled before the defence. Thesis title from main.tex (\thesistitle).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I start with why this matters for Pakistan, then the problem, research questions and literature gap; then the data and methods; the Big Data architecture; the forecasting and detection results; the streaming results; and finally limitations, answers to the research questions and future work. Backup slides hold the full tables.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motivation. Two recent disasters frame the work: the June 2015 Karachi heatwave and the 2022 floods.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June 2015, Karachi. The Ministry of Climate Change technical report (Chaudhry, Rasul et al., 2015) states the 17-24 June heatwave took more than 1,200 lives; the highest maximum temperature was 44.8 degrees C on 20 June, a departure of 11.1 degrees C from normal, and the heat index reached about 66 degrees C on the peak day because of low pressure, low wind and very high humidity. The same report says the event was unprecedented in terms of persistence. That is why my heatwave label requires at least three consecutive hot days, and it foreshadows a key result: a simple persistence rule is a very strong next-day heatwave detector. Source: https://mocc.gov.pk/SiteImage/Misc/files/Final%20Heat%20Wave%20Report%203%20August%202015.pdf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2022 floods. The Post-Disaster Needs Assessment, led by the Ministry of Planning, Development and Special Initiatives with ADB, EU, UN agencies and the World Bank, estimates damages above US$14.9 billion and economic losses of about US$15.2 billion; the floods affected 33 million people and more than 1,730 lost their lives (World Bank/UNDP PDNA press release, 28 Oct 2022). For my work, 2022 is the held-out test year: it combined extreme pre-monsoon heat with extreme monsoon rain, which makes it a stringent out-of-distribution test. Sources: https://www.pc.gov.pk/uploads/downloads/PDNA-2022.pdf ; https://www.worldbank.org/en/news/press-release/2022/10/28/pakistan-flood-damages-and-economic-losses-over-usd-30-billion-and-reconstruction-needs-over-usd-16-billion-new-assessme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approach. Chapter 1 argues three points: NWP is computationally expensive at the local, sub-daily resolution warnings need; statistical models like SARIMA assume linearity and stationarity that rarely hold for extremes; and climate data such as ERA5 (hourly, 0.25 degree, decades) has outgrown traditional pipelines. Distributed platforms such as Spark and Kafka, and deep learning such as LSTM and ConvLSTM, each address part of this, but the literature shows the two streams developed largely in isolation. Source: thesis Chapter 1, Background and Motivation.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the problem statement, objectives, research questions and the literature gap.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statement, from Section 1.2 of the thesis. Agencies need heatwave and flash-flood forecasts and alerts that are accurate, timely and explainable, and that run on modest infrastructure. The literature reveals five gaps: (i) no streaming pipeline coupled to a trained detector; (ii) latency and throughput rarely reported with accuracy; (iii) little validation on Pakistan data, especially PMD stations; (iv) the two hazards are not modelled in one pipeline; (v) explainability is inconsistent. I will be explicit later that gap (iii) could not be closed because PMD data was not available.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a scalable Big Data and deep learning framework for temperature and precipitation forecasting and heatwave and flash-flood detection in Pakistan. These six objectives are carried over unchanged from the approved proposal (Section 1.3). Where an objective could only partly be met - PMD data in O3 and O5, and the NWP comparison in O5 - the deviation is reported in Chapters 3 and 5 and on the limitations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research questions from the approved proposal (Section 1.4). RQ1 is answered by the literature review; RQ2 to RQ4 are answered empirically in Chapter 5. I return to each with a direct answer near the 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is answered by Chapter 2, which reviewed 99 studies (87 retained by the original search and 12 from an update search). Six gaps are consolidated in the gap table. The central one is G1: no reviewed work integrates a streaming Big Data pipeline with a trained heatwave or flash-flood detector. G2 motivates reporting latency and throughput as first-class metrics. G3, PMD station data, motivated the design but could not be closed because no PMD data was available. G5, data-driven global models such as GraphCast and Pangu-Weather, is future work. The review also concluded that statistical and tree-based baselines remain competitive and must be reported - which turns out to be central to my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data, hazard labels, models and evaluation design.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Every thesis number comes from ERA5 reanalysis retrieved through the Open-Meteo archive with models=era5: 20 reference cities across all provinces, nearest 0.25 degree point, hourly from 2015 to 2022, 1.40 million rows; plus a 2-degree, 7 by 8 cell subsample of the lattice for the ConvLSTM. Train 2015-2020, validation 2021, test 2022 held out. The dataset is being extended to 1990-2026. At the time of the Big Data run the download was partial: 1990-1999 plus 2015-2022, 355 partitions and 3.11 million hourly rows, loaded to HDFS (fsck HEALTHY). Because of the 2000-2014 gap, the thesis comparisons use only the 2015-2022 run. PMD station data: the adapter exists but was tested only with synthetic files; no PMD data was obtained. Climatologies and thresholds are fitted on 2015-2020 only, not the WMO 1991-2020 baseline, to avoid leakage.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Hazard labels (Chapter 3). Heatwave: daily maximum above the local calendar-day 95th percentile, with a plus-minus 7 day window fitted on training years, on at least three consecutive days; an absolute 40 degree variant is also computed. Flash flood: proxy A, the SRS definition, fires only 17, 1 and 2 times in train, validation and test - too rare to train or evaluate - so the detectors use proxy B, trailing 24-hour rain above the local 99.5th percentile, with 929, 79 and 405 positive 6-hour windows. Heatwave prevalence is much higher in 2022 than in the training years, which reflects 2022's exceptional heat. The flood labels are proxies, not observed floods; validation against NDMA/PDMA event records is future work. Counts from the Spark parity run, identical to pandas.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Baselines are persistence (and diurnal persistence for hourly), training-period climatology, SARIMA and XGBoost with default hyper-parameters (Optuna tuning was scripted but not run - DEVIATIONS D7). Deep models: daily and hourly LSTMs, a ConvLSTM encoder-forecaster on the 2 degree lattice with 60,198 parameters that reads 12 hourly frames and forecasts 6 hours, and a CNN grid heatwave detector. Evaluation is on identical samples. Regression: RMSE, MAE, NSE and skill scores. Detection: CSI, F1, POD and FAR, plus ROC-AUC, PR-AUC and Brier for probabilistic detectors. Paired Diebold-Mariano tests with block bootstrap confidence intervals and Holm correction. Detection thresholds are tuned on 2021 and applied unchanged to 2022.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the Big Data architecture. I will say this repeatedly: everything ran on a single-node pseudo-distributed cluster.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Left to right: sources, HDFS plus Spark on YARN, models, and Kafka streaming. ERA5 city partitions land in HDFS bronze; a PySpark ETL job on YARN applies quality-control bitmasks, unit conversion, Pakistan-time days, training-only climatologies, hazard labels and lag and rolling features, writing silver and gold Parquet tables. The recursive antecedent precipitation index runs as a grouped pandas UDF. Models: the pandas and PyTorch reference implementation produced every thesis number; Spark MLlib GBT baselines run on YARN against the gold table. Streaming: a replay producer writes ERA5 hourly observations to the Kafka topic hf-obs; a Structured Streaming job keeps per-city state with an HDFS checkpoint and writes alerts to Kafka hf-alerts (at-least-once) and scored rows to HDFS Parquet (idempotent per batch). The live site uses the Open-Meteo forecast bias-corrected to ERA5 (DEVIATIONS D3). Everything runs on one machine: a single-node pseudo-distributed cluster.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Hadoop 3.3.6 HDFS and YARN, Spark 3.5.9 on YARN in client mode, and Kafka 3.9.2 in KRaft mode with one broker, all on a single 2-vCPU, 7.7 GB aarch64 sandbox, replication factor 1. RUN_LOG.md records the YARN application IDs, wall times and HDFS paths; 16 Big Data unit and integration tests pass. Two early YARN attempts failed and are logged honestly: application 0001 because executors could not import numpy, and 0002 because executors were killed by the OS for memory in the 140-column hourly feature stage. The fix was one executor with 2 cores and city-chunked hourly features. This is a pseudo-distributed cluster: the services and protocols are real, but there is no multi-node parallelism, no cross-machine fault tolerance and no network cost. The numbers show the pipeline works end-to-end on real infrastructure, not how it scales.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Parity. I ran the Spark ETL on YARN over 2015-2022 and compared every output with the pandas reference. All 8 tables - silver hourly and daily, three climatologies, flash-flood labels, daily and hourly features (1.40 million rows by 138 hourly columns) - have identical row keys and identical label, integer and string columns, with tolerance atol 1e-3 plus rtol 1e-4 for floats. The largest float difference is 1.7e-4 in the heat index, float32 rounding. The one systematic difference is the provenance column feature_spec_hash, because a config file was edited after the pandas gold was built; it is metadata and reported separately. Wall time 241.8 seconds on YARN. This matters because it means the Spark path can produce the same training data as the thesis results.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results on the held-out 2022 test year. The headline is that strong baselines are hard to beat, and I will show where deep learning wins and where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maximum temperature, test year 2022, leads 1 to 7 days. At 1 day the four models are within 0.06 degrees: XGBoost 1.822, SARIMA 1.834, LSTM 1.871, persistence 1.881. The Diebold-Mariano tests with Holm correction show SARIMA significantly better than the LSTM at leads 1 to 3, XGBoost and SARIMA not significantly different at lead 1, and the LSTM significantly better than persistence from lead 3 onward. For daily precipitation, the LSTM gives small but significant gains over SARIMA and XGBoost at 3 to 7 days, but NSE stays near zero: no model forecasts heavy daily rain usefully. So for RQ2 the honest answer on daily Tmax is no - SARIMA is as good as or better than the LSTM at every lead.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Hourly 2-metre temperature. Here deep learning clearly helps: the LSTM has RMSE 0.634 degrees at 1 hour against 0.679 for XGBoost and 1.558 for persistence; 1.372 at 6 hours against 1.469 and 5.783; and 1.756 at 24 hours against 1.779 and 1.938 for diurnal persistence. The thesis reports that the LSTM significantly outperformed XGBoost for hourly temperature at all leads. For hourly precipitation the LSTM is marginally better than persistence at 1 hour (0.262 vs 0.278 mm/h) and close to XGBoost at 6 and 24 hours.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ConvLSTM on the 2 degree ERA5 lattice, test 2022, 490,224 cell-hours per lead. For temperature it beats persistence and climatology at every lead from 1 to 6 hours: 1.262 against 1.600 at 1 hour, and 2.287 against 6.171 at 6 hours. For precipitation it is marginally better than persistence at 1 hour and clearly better from 2 hours. Caveats from DEVIATIONS D2: an earlier 4-epoch model was worse than persistence at short leads; the kept model was retrained with origins every 3 hours and early stopping on 2021 validation loss, best epoch 3, stopped at epoch 6, 625 seconds on 2 vCPUs, one seed, no hyper-parameter search. It is a CPU prototype on a coarse grid.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Next-day heatwave detection, 551 positive city-days out of 7,280 in 2022. The persistence rule - tomorrow is a heatwave day if today is - scores CSI 0.717 with POD and FAR of 0.835 and 0.165. The calibrated XGBoost classifier has excellent ranking (ROC-AUC 0.943, PR-AUC 0.589) but CSI only 0.356 at its 2021-tuned threshold. The LSTM forecast plus rule scores 0.253. The Spark MLlib GBT classifier on YARN reaches CSI 0.367. At 3 days, persistence drops to 0.348 and XGBoost issues no alerts at the threshold tuned on the milder 2021 season. I report this plainly: the threshold transfer from 2021 to an exceptional 2022 failed. Heatwaves are persistent, as the 2015 MoCC report emphasised, so persistence is the bar any learned detector must clear.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Flash-flood risk proxy B, 405 positive 6-hour windows in 2022. At 6 hours XGBoost scores CSI 0.609 against 0.585 for persistence, with PR-AUC 0.814 and ROC-AUC 0.984. But I must qualify this: the 6-hour target is a trailing 24-hour rain sum that shares 18 of its 24 hours with a feature available at issue time, so the detector largely recognises rain that has already fallen. It is an upper bound - nowcast or detection with overlap. The 24-hour detector, whose target window does not overlap the features, scores CSI 0 at the tuned threshold, with PR-AUC 0.216 and ROC-AUC 0.939. That is the honest forecast number. And these are rainfall-extreme proxies, never flood detection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 MLlib on YARN, trained on the HDFS gold table with the same 2015-2020 / 2021 / 2022 split, seed 42. The GBT regressor for next-day Tmax reaches RMSE 1.926 degrees, worse than XGBoost on exactly the same 7,280 test rows (1.835) and worse than persistence on those rows (1.902) - so MLlib does not beat persistence for regression. (The thesis XGBoost figure of 1.822 uses a slightly different row set; 1.835 is the like-for-like comparison.) The GBT classifier for next-day heatwaves gets ROC-AUC 0.947, PR-AUC 0.618, and CSI 0.367 at a threshold of 0.15 tuned on 2021 - on par with XGBoost's 0.356, still far below persistence. Fit times 156.4 s and 71.7 s. Single seed. The point is that the Spark ML path reproduces the qualitative finding on real Big Data infrastructure, not that it improves skill.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streaming. Two runtimes: the local fallback runtime that produced the thesis numbers, and the new Kafka to Spark Structured Streaming runtime on YARN.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streaming results come from the local fallback runtime, the same StreamProcessor used by the Kafka consumer and Spark foreachBatch. Replaying April to September 2022 for 20 cities, 87,840 events in 183 daily batches, it sustained 210.5 events per second, about 37,900 times faster than real time, with p95 batch time 2.37 seconds per day of data. Six injected fault types - duplicates, corrupt records, out-of-order, delayed beyond watermark, missing data and an outage - caused no crash and no duplicate alerts; bad records went to the dead-letter queue. After a kill-and-restart, restored from batch 15 after being killed at batch 18, alerts were equal to the uninterrupted run: 0 lost and 0 duplicated.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Kafka to Spark Structured Streaming on YARN. Throughput test: 58,560 events from April to July 2022 were pre-loaded into hf-obs; Spark processed them in 3 micro-batches at 2,738.8 events per second by Spark's trigger-execution time, or 1,344 events per second including YARN start-up. Latency test: a producer at a steady 100 events per second with a 1-second trigger. Event to HDFS Parquet sink p50 2.8 s, p95 5.5 s, p99 7.3 s; event to state update p95 3.8 s; the 54 alerts reached the Kafka hf-alerts topic with p95 3.2 s. These are single-node pseudo-distributed figures: they show the pipeline works end-to-end on real Kafka and Spark, not how it scales across nodes.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Kill-and-restart on the real stack. A producer sent 21,600 events at 250 per second; after 45 seconds I SIGKILLed the Spark driver, restarted it 43 seconds later from the HDFS checkpoint, and it drained the backlog in 34.9 seconds. Result: Kafka end offsets total 21,600; the HDFS Parquet sink has 21,600 rows and 21,600 distinct partition-offset pairs, 0 missing and 0 duplicates - exactly-once for the Parquet sink. Streaming state equals an offline reference: rolling features have max absolute difference 0.0 and the 212 alerts are identical. The Kafka alert topic is at-least-once: it holds 254 messages, 42 of them replayed from the batch in flight at the crash, so downstream consumers must de-duplicate by event id. An analysis-script bug (timestamp dtype merge) was fixed and re-analysed on the stored HDFS outputs; the job itself was not re-run - documented in RUN_LOG.md.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Scalability on the 2-core development machine. E1: the batch feature job time is linear in data volume, R-squared 0.9999 over a 4-fold increase from 175,200 to 700,800 rows. E2: 2 worker processes give a speed-up of 1.88, efficiency 0.94. Larger micro-batches raised streaming throughput almost proportionally at nearly constant batch latency. RQ4's honest answer is: yes on a single node; not yet demonstrated on a cluster. The machine was shared during measurement, and these results establish the scalability of the code path, not of a multi-node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 limitations, answers to the research questions, contributions and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First, PMD station data was not available, so every number is ERA5 reanalysis; gap G3 is not closed. Second, flood labels are rainfall proxies, and the 6-hour target overlaps observed rain. Third, several analyses use a single seed - the ConvLSTM, XGBoost and the MLlib models with seed 42; only the daily LSTM was repeated over three seeds (42, 7, 2024), with Tmax RMSE 1.854 plus-minus 0.015 at 1 day. Fourth, one exceptional test year, with thresholds from six training years rather than a 30-year baseline. Fifth, the Big Data stack is a single-node pseudo-distributed cluster. Sixth, no NWP comparison, because no archived 2022 NWP forecasts were retrieved, and the neural networks were small and CPU-trained.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answers. RQ1: the state of the art combines strong statistical and tree-based baselines with recurrent and convolutional-recurrent networks and emerging global data-driven models; streaming Big Data infrastructure is rarely coupled to detection. RQ2: partly - the LSTM significantly beat XGBoost for hourly temperature, the ConvLSTM beat persistence and climatology on the lattice, but SARIMA was as good or better for daily Tmax, and NWP and PMD comparisons could not be done. RQ3: partly - the infrastructure meets timeliness and robustness requirements, but persistence is the best next-day heatwave detector and the flood score is an upper bound. RQ4: yes on a single node, now including a real single-node pseudo-distributed Hadoop, Spark and Kafka run; multi-node scaling is not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Contributions. One: an open-source pipeline that couples streaming ingestion to trained detectors for both hazards - addressing G1 and G4. Two: timeliness and fault-tolerance metrics reported alongside skill - G2. Three: an honest benchmark against strong baselines with paired significance tests, including the negative results. Four: the new Big Data evidence - Spark ETL parity on all 8 tables and an exactly-once HDFS sink after a driver kill, on a single-node pseudo-distributed cluster. Five: reproducible public artefacts - the GitHub repository with release v0.1.0, CI and tests, and a GitHub Pages site whose live snapshot regenerates every 6 hours. Note: the Big Data path in the repository is newer than release v0.1.0.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from Chapter 6 plus the data extension. Ground truth: PMD station validation and flood labels from NDMA/PDMA and disaster databases. The 1990-2026 record: the download is in progress; once complete, re-run the HDFS load and the Spark lake ETL and retrain - the partial lake run already showed that pooling the 1990s into the climatology lowers p95 thresholds and raises heatwave label counts from 593/261/551 to 1068/329/686, so thresholds must be refitted. Extreme-aware losses and seasonal recalibration of thresholds; NWP and global-model benchmarks; multi-node Kafka and Spark with node-failure tests; and attention or graph models and further hazards.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deep learning helps where the signal is smooth and spatial - hourly and gridded temperature - but persistence remains the bar for next-day heatwaves, and the flood score is an upper bound on proxy labels. The streaming path is timely and lost nothing under failure on a single-node pseudo-distributed cluster. I request approval of the thesis as a reproducible, honestly bounded baseline. The QR codes open the live site, https://siraseef.github.io/heatflood-sentinel/, and the repository, https://github.com/SirAseef/heatflood-sentinel. Thank you; I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daily leaderboards. Best per column in green. Note climatology is best for daily precipitation at 3 and 7 days - another sign that daily rain is barely predictable from these inputs. Full 1-7 day tables are in the thesis Chapter 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detection metrics. FAR is undefined where the model issued no alerts. Heatwave positives 551 (1 d) and 549 (3 d); flash-flood proxy positives 405. Thresholds were tuned on 2021: XGBoost heatwave 0.325 at 1 d and 0.15 at 3 d; flood 0.2; MLlib 0.15.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fault injection on the local runtime over a 31-batch window. Duplicates and corrupt records go to the dead-letter queue; out-of-order data is reordered with identical alerts; delayed-beyond-watermark data is dead-lettered and can drop one alert; a source outage reduces alerts because data is missing. In no mode did the processor crash or emit a duplicate alert.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ed_logo.png"/>
          <p:cNvPicPr>
            <a:picLocks noChangeAspect="1"/>
          </p:cNvPicPr>
          <p:nvPr/>
        </p:nvPicPr>
        <p:blipFill>
          <a:blip r:embed="rId2"/>
          <a:stretch>
            <a:fillRect/>
          </a:stretch>
        </p:blipFill>
        <p:spPr>
          <a:xfrm>
            <a:off x="10378440" y="502920"/>
            <a:ext cx="1245061" cy="1234440"/>
          </a:xfrm>
          <a:prstGeom prst="rect">
            <a:avLst/>
          </a:prstGeom>
        </p:spPr>
      </p:pic>
      <p:sp>
        <p:nvSpPr>
          <p:cNvPr id="5" name="TextBox 4"/>
          <p:cNvSpPr txBox="1"/>
          <p:nvPr/>
        </p:nvSpPr>
        <p:spPr>
          <a:xfrm>
            <a:off x="640080" y="640080"/>
            <a:ext cx="9144000" cy="320040"/>
          </a:xfrm>
          <a:prstGeom prst="rect">
            <a:avLst/>
          </a:prstGeom>
          <a:noFill/>
        </p:spPr>
        <p:txBody>
          <a:bodyPr wrap="square" lIns="18288" rIns="18288" tIns="18288" bIns="18288" anchor="t">
            <a:spAutoFit/>
          </a:bodyPr>
          <a:lstStyle/>
          <a:p>
            <a:pPr algn="l">
              <a:lnSpc>
                <a:spcPct val="108000"/>
              </a:lnSpc>
            </a:pPr>
            <a:r>
              <a:rPr sz="1300" b="1" i="0">
                <a:solidFill>
                  <a:srgbClr val="F5A524"/>
                </a:solidFill>
                <a:latin typeface="Arial"/>
              </a:rPr>
              <a:t>MS DATA SCIENCE · THESIS DEFENCE</a:t>
            </a:r>
          </a:p>
        </p:txBody>
      </p:sp>
      <p:sp>
        <p:nvSpPr>
          <p:cNvPr id="6" name="TextBox 5"/>
          <p:cNvSpPr txBox="1"/>
          <p:nvPr/>
        </p:nvSpPr>
        <p:spPr>
          <a:xfrm>
            <a:off x="640080" y="1097280"/>
            <a:ext cx="9509760" cy="914400"/>
          </a:xfrm>
          <a:prstGeom prst="rect">
            <a:avLst/>
          </a:prstGeom>
          <a:noFill/>
        </p:spPr>
        <p:txBody>
          <a:bodyPr wrap="square" lIns="18288" rIns="18288" tIns="18288" bIns="18288" anchor="t">
            <a:spAutoFit/>
          </a:bodyPr>
          <a:lstStyle/>
          <a:p>
            <a:pPr algn="l">
              <a:lnSpc>
                <a:spcPct val="108000"/>
              </a:lnSpc>
            </a:pPr>
            <a:r>
              <a:rPr sz="5400" b="1" i="0">
                <a:solidFill>
                  <a:srgbClr val="E8EDF5"/>
                </a:solidFill>
                <a:latin typeface="Arial"/>
              </a:rPr>
              <a:t>HeatFlood Sentinel</a:t>
            </a:r>
          </a:p>
        </p:txBody>
      </p:sp>
      <p:sp>
        <p:nvSpPr>
          <p:cNvPr id="7" name="TextBox 6"/>
          <p:cNvSpPr txBox="1"/>
          <p:nvPr/>
        </p:nvSpPr>
        <p:spPr>
          <a:xfrm>
            <a:off x="640080" y="2057400"/>
            <a:ext cx="9418320" cy="1097280"/>
          </a:xfrm>
          <a:prstGeom prst="rect">
            <a:avLst/>
          </a:prstGeom>
          <a:noFill/>
        </p:spPr>
        <p:txBody>
          <a:bodyPr wrap="square" lIns="18288" rIns="18288" tIns="18288" bIns="18288" anchor="t">
            <a:spAutoFit/>
          </a:bodyPr>
          <a:lstStyle/>
          <a:p>
            <a:pPr algn="l">
              <a:lnSpc>
                <a:spcPct val="110000"/>
              </a:lnSpc>
            </a:pPr>
            <a:r>
              <a:rPr sz="2200" b="0" i="0">
                <a:solidFill>
                  <a:srgbClr val="E8EDF5"/>
                </a:solidFill>
                <a:latin typeface="Arial"/>
              </a:rPr>
              <a:t>Scalable Big Data and Deep Learning Framework for Heatwave and Flash-Flood Forecasting and Detection in Pakistan</a:t>
            </a:r>
          </a:p>
        </p:txBody>
      </p:sp>
      <p:sp>
        <p:nvSpPr>
          <p:cNvPr id="8" name="Rectangle 7"/>
          <p:cNvSpPr/>
          <p:nvPr/>
        </p:nvSpPr>
        <p:spPr>
          <a:xfrm>
            <a:off x="640080" y="3337560"/>
            <a:ext cx="1280160" cy="4572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0240" y="3337560"/>
            <a:ext cx="1280160"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80"/>
            <a:ext cx="5669280" cy="1463040"/>
          </a:xfrm>
          <a:prstGeom prst="rect">
            <a:avLst/>
          </a:prstGeom>
          <a:noFill/>
        </p:spPr>
        <p:txBody>
          <a:bodyPr wrap="square" lIns="18288" rIns="18288" tIns="18288" bIns="18288" anchor="t">
            <a:spAutoFit/>
          </a:bodyPr>
          <a:lstStyle/>
          <a:p>
            <a:pPr algn="l">
              <a:lnSpc>
                <a:spcPct val="120000"/>
              </a:lnSpc>
            </a:pPr>
            <a:r>
              <a:rPr sz="2200" b="1" i="0">
                <a:solidFill>
                  <a:srgbClr val="E8EDF5"/>
                </a:solidFill>
                <a:latin typeface="Arial"/>
              </a:rPr>
              <a:t>Aseef Ahmed</a:t>
            </a:r>
          </a:p>
          <a:p>
            <a:pPr algn="l">
              <a:lnSpc>
                <a:spcPct val="120000"/>
              </a:lnSpc>
            </a:pPr>
            <a:r>
              <a:rPr sz="1500" b="0" i="0">
                <a:solidFill>
                  <a:srgbClr val="9AA7B8"/>
                </a:solidFill>
                <a:latin typeface="Arial"/>
              </a:rPr>
              <a:t>Roll No. DS-029/2025/26</a:t>
            </a:r>
          </a:p>
          <a:p>
            <a:pPr algn="l">
              <a:lnSpc>
                <a:spcPct val="120000"/>
              </a:lnSpc>
            </a:pPr>
            <a:r>
              <a:rPr sz="1500" b="0" i="0">
                <a:solidFill>
                  <a:srgbClr val="9AA7B8"/>
                </a:solidFill>
                <a:latin typeface="Arial"/>
              </a:rPr>
              <a:t>Supervisor: </a:t>
            </a:r>
            <a:r>
              <a:rPr sz="1500" b="1" i="0">
                <a:solidFill>
                  <a:srgbClr val="E8EDF5"/>
                </a:solidFill>
                <a:latin typeface="Arial"/>
              </a:rPr>
              <a:t>Dr. Maria Andaleeb Siddiqui</a:t>
            </a:r>
          </a:p>
          <a:p>
            <a:pPr algn="l">
              <a:lnSpc>
                <a:spcPct val="120000"/>
              </a:lnSpc>
            </a:pPr>
            <a:r>
              <a:rPr sz="1300" b="0" i="0">
                <a:solidFill>
                  <a:srgbClr val="9AA7B8"/>
                </a:solidFill>
                <a:latin typeface="Arial"/>
              </a:rPr>
              <a:t>Department of Computer Science &amp; IT, NED University of Engineering &amp; Technology, Karachi</a:t>
            </a:r>
          </a:p>
        </p:txBody>
      </p:sp>
      <p:sp>
        <p:nvSpPr>
          <p:cNvPr id="11" name="Rounded Rectangle 10"/>
          <p:cNvSpPr/>
          <p:nvPr/>
        </p:nvSpPr>
        <p:spPr>
          <a:xfrm>
            <a:off x="6675120" y="3611880"/>
            <a:ext cx="4892040" cy="502920"/>
          </a:xfrm>
          <a:prstGeom prst="roundRect">
            <a:avLst>
              <a:gd name="adj" fmla="val 15000"/>
            </a:avLst>
          </a:prstGeom>
          <a:solidFill>
            <a:srgbClr val="2A1A10"/>
          </a:solidFill>
          <a:ln w="15875">
            <a:solidFill>
              <a:srgbClr val="F5A5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3611880"/>
            <a:ext cx="4617720" cy="502920"/>
          </a:xfrm>
          <a:prstGeom prst="rect">
            <a:avLst/>
          </a:prstGeom>
          <a:noFill/>
        </p:spPr>
        <p:txBody>
          <a:bodyPr wrap="square" lIns="18288" rIns="18288" tIns="18288" bIns="18288" anchor="ctr">
            <a:spAutoFit/>
          </a:bodyPr>
          <a:lstStyle/>
          <a:p>
            <a:pPr algn="l">
              <a:lnSpc>
                <a:spcPct val="108000"/>
              </a:lnSpc>
            </a:pPr>
            <a:r>
              <a:rPr sz="1300" b="1" i="0">
                <a:solidFill>
                  <a:srgbClr val="F5A524"/>
                </a:solidFill>
                <a:latin typeface="Arial"/>
              </a:rPr>
              <a:t>Defence date: [PLACEHOLDER — TO BE CONFIRMED]</a:t>
            </a:r>
          </a:p>
        </p:txBody>
      </p:sp>
      <p:sp>
        <p:nvSpPr>
          <p:cNvPr id="13" name="Rounded Rectangle 12"/>
          <p:cNvSpPr/>
          <p:nvPr/>
        </p:nvSpPr>
        <p:spPr>
          <a:xfrm>
            <a:off x="6675120" y="4251960"/>
            <a:ext cx="4892040" cy="502920"/>
          </a:xfrm>
          <a:prstGeom prst="roundRect">
            <a:avLst>
              <a:gd name="adj" fmla="val 15000"/>
            </a:avLst>
          </a:prstGeom>
          <a:solidFill>
            <a:srgbClr val="2A1A10"/>
          </a:solidFill>
          <a:ln w="15875">
            <a:solidFill>
              <a:srgbClr val="F5A5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4251960"/>
            <a:ext cx="4617720" cy="502920"/>
          </a:xfrm>
          <a:prstGeom prst="rect">
            <a:avLst/>
          </a:prstGeom>
          <a:noFill/>
        </p:spPr>
        <p:txBody>
          <a:bodyPr wrap="square" lIns="18288" rIns="18288" tIns="18288" bIns="18288" anchor="ctr">
            <a:spAutoFit/>
          </a:bodyPr>
          <a:lstStyle/>
          <a:p>
            <a:pPr algn="l">
              <a:lnSpc>
                <a:spcPct val="108000"/>
              </a:lnSpc>
            </a:pPr>
            <a:r>
              <a:rPr sz="1300" b="1" i="0">
                <a:solidFill>
                  <a:srgbClr val="F5A524"/>
                </a:solidFill>
                <a:latin typeface="Arial"/>
              </a:rPr>
              <a:t>Internal examiner: [PLACEHOLDER]</a:t>
            </a:r>
          </a:p>
        </p:txBody>
      </p:sp>
      <p:sp>
        <p:nvSpPr>
          <p:cNvPr id="15" name="Rounded Rectangle 14"/>
          <p:cNvSpPr/>
          <p:nvPr/>
        </p:nvSpPr>
        <p:spPr>
          <a:xfrm>
            <a:off x="6675120" y="4892040"/>
            <a:ext cx="4892040" cy="502920"/>
          </a:xfrm>
          <a:prstGeom prst="roundRect">
            <a:avLst>
              <a:gd name="adj" fmla="val 15000"/>
            </a:avLst>
          </a:prstGeom>
          <a:solidFill>
            <a:srgbClr val="2A1A10"/>
          </a:solidFill>
          <a:ln w="15875">
            <a:solidFill>
              <a:srgbClr val="F5A5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892040"/>
            <a:ext cx="4617720" cy="502920"/>
          </a:xfrm>
          <a:prstGeom prst="rect">
            <a:avLst/>
          </a:prstGeom>
          <a:noFill/>
        </p:spPr>
        <p:txBody>
          <a:bodyPr wrap="square" lIns="18288" rIns="18288" tIns="18288" bIns="18288" anchor="ctr">
            <a:spAutoFit/>
          </a:bodyPr>
          <a:lstStyle/>
          <a:p>
            <a:pPr algn="l">
              <a:lnSpc>
                <a:spcPct val="108000"/>
              </a:lnSpc>
            </a:pPr>
            <a:r>
              <a:rPr sz="1300" b="1" i="0">
                <a:solidFill>
                  <a:srgbClr val="F5A524"/>
                </a:solidFill>
                <a:latin typeface="Arial"/>
              </a:rPr>
              <a:t>External examiner: [PLACEHOLDER]</a:t>
            </a:r>
          </a:p>
        </p:txBody>
      </p:sp>
      <p:sp>
        <p:nvSpPr>
          <p:cNvPr id="17" name="TextBox 16"/>
          <p:cNvSpPr txBox="1"/>
          <p:nvPr/>
        </p:nvSpPr>
        <p:spPr>
          <a:xfrm>
            <a:off x="640080" y="5989320"/>
            <a:ext cx="10972800" cy="365760"/>
          </a:xfrm>
          <a:prstGeom prst="rect">
            <a:avLst/>
          </a:prstGeom>
          <a:noFill/>
        </p:spPr>
        <p:txBody>
          <a:bodyPr wrap="square" lIns="18288" rIns="18288" tIns="18288" bIns="18288" anchor="t">
            <a:spAutoFit/>
          </a:bodyPr>
          <a:lstStyle/>
          <a:p>
            <a:pPr algn="l">
              <a:lnSpc>
                <a:spcPct val="108000"/>
              </a:lnSpc>
            </a:pPr>
            <a:r>
              <a:rPr sz="1200" b="0" i="0">
                <a:solidFill>
                  <a:srgbClr val="9AA7B8"/>
                </a:solidFill>
                <a:latin typeface="Arial"/>
              </a:rPr>
              <a:t>Thesis results: ERA5, 20 cities, 2015–2022 (test year 2022)  ·  Big Data results: single-node pseudo-distributed Hadoop/YARN/Spark/Kafka cluster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ROADMAP</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The talk follows the argument from hazard to evidence to limits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a:t>
            </a:r>
          </a:p>
        </p:txBody>
      </p:sp>
      <p:sp>
        <p:nvSpPr>
          <p:cNvPr id="8" name="Rounded Rectangle 7"/>
          <p:cNvSpPr/>
          <p:nvPr/>
        </p:nvSpPr>
        <p:spPr>
          <a:xfrm>
            <a:off x="548640" y="182880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6596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F5A524"/>
                </a:solidFill>
                <a:latin typeface="Arial"/>
              </a:rPr>
              <a:t>01</a:t>
            </a:r>
          </a:p>
        </p:txBody>
      </p:sp>
      <p:sp>
        <p:nvSpPr>
          <p:cNvPr id="10" name="TextBox 9"/>
          <p:cNvSpPr txBox="1"/>
          <p:nvPr/>
        </p:nvSpPr>
        <p:spPr>
          <a:xfrm>
            <a:off x="777240" y="269748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Motivation</a:t>
            </a:r>
          </a:p>
        </p:txBody>
      </p:sp>
      <p:sp>
        <p:nvSpPr>
          <p:cNvPr id="11" name="TextBox 10"/>
          <p:cNvSpPr txBox="1"/>
          <p:nvPr/>
        </p:nvSpPr>
        <p:spPr>
          <a:xfrm>
            <a:off x="777240" y="306324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Deadly heat and floods in Pakistan</a:t>
            </a:r>
          </a:p>
        </p:txBody>
      </p:sp>
      <p:sp>
        <p:nvSpPr>
          <p:cNvPr id="12" name="Rounded Rectangle 11"/>
          <p:cNvSpPr/>
          <p:nvPr/>
        </p:nvSpPr>
        <p:spPr>
          <a:xfrm>
            <a:off x="3355848" y="182880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196596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F5A524"/>
                </a:solidFill>
                <a:latin typeface="Arial"/>
              </a:rPr>
              <a:t>02</a:t>
            </a:r>
          </a:p>
        </p:txBody>
      </p:sp>
      <p:sp>
        <p:nvSpPr>
          <p:cNvPr id="14" name="TextBox 13"/>
          <p:cNvSpPr txBox="1"/>
          <p:nvPr/>
        </p:nvSpPr>
        <p:spPr>
          <a:xfrm>
            <a:off x="3584448" y="269748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Problem, RQs &amp; gap</a:t>
            </a:r>
          </a:p>
        </p:txBody>
      </p:sp>
      <p:sp>
        <p:nvSpPr>
          <p:cNvPr id="15" name="TextBox 14"/>
          <p:cNvSpPr txBox="1"/>
          <p:nvPr/>
        </p:nvSpPr>
        <p:spPr>
          <a:xfrm>
            <a:off x="3584448" y="306324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What is missing in 99 reviewed studies</a:t>
            </a:r>
          </a:p>
        </p:txBody>
      </p:sp>
      <p:sp>
        <p:nvSpPr>
          <p:cNvPr id="16" name="Rounded Rectangle 15"/>
          <p:cNvSpPr/>
          <p:nvPr/>
        </p:nvSpPr>
        <p:spPr>
          <a:xfrm>
            <a:off x="6163055" y="182880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196596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14B8A6"/>
                </a:solidFill>
                <a:latin typeface="Arial"/>
              </a:rPr>
              <a:t>03</a:t>
            </a:r>
          </a:p>
        </p:txBody>
      </p:sp>
      <p:sp>
        <p:nvSpPr>
          <p:cNvPr id="18" name="TextBox 17"/>
          <p:cNvSpPr txBox="1"/>
          <p:nvPr/>
        </p:nvSpPr>
        <p:spPr>
          <a:xfrm>
            <a:off x="6391655" y="269748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Data &amp; methods</a:t>
            </a:r>
          </a:p>
        </p:txBody>
      </p:sp>
      <p:sp>
        <p:nvSpPr>
          <p:cNvPr id="19" name="TextBox 18"/>
          <p:cNvSpPr txBox="1"/>
          <p:nvPr/>
        </p:nvSpPr>
        <p:spPr>
          <a:xfrm>
            <a:off x="6391655" y="306324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ERA5, labels, models, evaluation</a:t>
            </a:r>
          </a:p>
        </p:txBody>
      </p:sp>
      <p:sp>
        <p:nvSpPr>
          <p:cNvPr id="20" name="Rounded Rectangle 19"/>
          <p:cNvSpPr/>
          <p:nvPr/>
        </p:nvSpPr>
        <p:spPr>
          <a:xfrm>
            <a:off x="8970263" y="182880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8863" y="196596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14B8A6"/>
                </a:solidFill>
                <a:latin typeface="Arial"/>
              </a:rPr>
              <a:t>04</a:t>
            </a:r>
          </a:p>
        </p:txBody>
      </p:sp>
      <p:sp>
        <p:nvSpPr>
          <p:cNvPr id="22" name="TextBox 21"/>
          <p:cNvSpPr txBox="1"/>
          <p:nvPr/>
        </p:nvSpPr>
        <p:spPr>
          <a:xfrm>
            <a:off x="9198863" y="269748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Big Data architecture</a:t>
            </a:r>
          </a:p>
        </p:txBody>
      </p:sp>
      <p:sp>
        <p:nvSpPr>
          <p:cNvPr id="23" name="TextBox 22"/>
          <p:cNvSpPr txBox="1"/>
          <p:nvPr/>
        </p:nvSpPr>
        <p:spPr>
          <a:xfrm>
            <a:off x="9198863" y="306324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HDFS · YARN · Spark · Kafka</a:t>
            </a:r>
          </a:p>
        </p:txBody>
      </p:sp>
      <p:sp>
        <p:nvSpPr>
          <p:cNvPr id="24" name="Rounded Rectangle 23"/>
          <p:cNvSpPr/>
          <p:nvPr/>
        </p:nvSpPr>
        <p:spPr>
          <a:xfrm>
            <a:off x="548640" y="393192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6908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E5484D"/>
                </a:solidFill>
                <a:latin typeface="Arial"/>
              </a:rPr>
              <a:t>05</a:t>
            </a:r>
          </a:p>
        </p:txBody>
      </p:sp>
      <p:sp>
        <p:nvSpPr>
          <p:cNvPr id="26" name="TextBox 25"/>
          <p:cNvSpPr txBox="1"/>
          <p:nvPr/>
        </p:nvSpPr>
        <p:spPr>
          <a:xfrm>
            <a:off x="777240" y="480060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Results</a:t>
            </a:r>
          </a:p>
        </p:txBody>
      </p:sp>
      <p:sp>
        <p:nvSpPr>
          <p:cNvPr id="27" name="TextBox 26"/>
          <p:cNvSpPr txBox="1"/>
          <p:nvPr/>
        </p:nvSpPr>
        <p:spPr>
          <a:xfrm>
            <a:off x="777240" y="516636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Forecasting and detection skill</a:t>
            </a:r>
          </a:p>
        </p:txBody>
      </p:sp>
      <p:sp>
        <p:nvSpPr>
          <p:cNvPr id="28" name="Rounded Rectangle 27"/>
          <p:cNvSpPr/>
          <p:nvPr/>
        </p:nvSpPr>
        <p:spPr>
          <a:xfrm>
            <a:off x="3355848" y="393192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84448" y="406908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3B82F6"/>
                </a:solidFill>
                <a:latin typeface="Arial"/>
              </a:rPr>
              <a:t>06</a:t>
            </a:r>
          </a:p>
        </p:txBody>
      </p:sp>
      <p:sp>
        <p:nvSpPr>
          <p:cNvPr id="30" name="TextBox 29"/>
          <p:cNvSpPr txBox="1"/>
          <p:nvPr/>
        </p:nvSpPr>
        <p:spPr>
          <a:xfrm>
            <a:off x="3584448" y="480060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Streaming</a:t>
            </a:r>
          </a:p>
        </p:txBody>
      </p:sp>
      <p:sp>
        <p:nvSpPr>
          <p:cNvPr id="31" name="TextBox 30"/>
          <p:cNvSpPr txBox="1"/>
          <p:nvPr/>
        </p:nvSpPr>
        <p:spPr>
          <a:xfrm>
            <a:off x="3584448" y="516636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Latency, throughput, fault tolerance</a:t>
            </a:r>
          </a:p>
        </p:txBody>
      </p:sp>
      <p:sp>
        <p:nvSpPr>
          <p:cNvPr id="32" name="Rounded Rectangle 31"/>
          <p:cNvSpPr/>
          <p:nvPr/>
        </p:nvSpPr>
        <p:spPr>
          <a:xfrm>
            <a:off x="6163055" y="393192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1655" y="406908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A78BFA"/>
                </a:solidFill>
                <a:latin typeface="Arial"/>
              </a:rPr>
              <a:t>07</a:t>
            </a:r>
          </a:p>
        </p:txBody>
      </p:sp>
      <p:sp>
        <p:nvSpPr>
          <p:cNvPr id="34" name="TextBox 33"/>
          <p:cNvSpPr txBox="1"/>
          <p:nvPr/>
        </p:nvSpPr>
        <p:spPr>
          <a:xfrm>
            <a:off x="6391655" y="480060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Limits &amp; conclusion</a:t>
            </a:r>
          </a:p>
        </p:txBody>
      </p:sp>
      <p:sp>
        <p:nvSpPr>
          <p:cNvPr id="35" name="TextBox 34"/>
          <p:cNvSpPr txBox="1"/>
          <p:nvPr/>
        </p:nvSpPr>
        <p:spPr>
          <a:xfrm>
            <a:off x="6391655" y="516636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Limitations, RQ answers, future work</a:t>
            </a:r>
          </a:p>
        </p:txBody>
      </p:sp>
      <p:sp>
        <p:nvSpPr>
          <p:cNvPr id="36" name="Rounded Rectangle 35"/>
          <p:cNvSpPr/>
          <p:nvPr/>
        </p:nvSpPr>
        <p:spPr>
          <a:xfrm>
            <a:off x="8970263" y="3931920"/>
            <a:ext cx="2606040" cy="182880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98863" y="4069080"/>
            <a:ext cx="1371600" cy="685800"/>
          </a:xfrm>
          <a:prstGeom prst="rect">
            <a:avLst/>
          </a:prstGeom>
          <a:noFill/>
        </p:spPr>
        <p:txBody>
          <a:bodyPr wrap="square" lIns="18288" rIns="18288" tIns="18288" bIns="18288" anchor="t">
            <a:spAutoFit/>
          </a:bodyPr>
          <a:lstStyle/>
          <a:p>
            <a:pPr algn="l">
              <a:lnSpc>
                <a:spcPct val="108000"/>
              </a:lnSpc>
            </a:pPr>
            <a:r>
              <a:rPr sz="3400" b="1" i="0">
                <a:solidFill>
                  <a:srgbClr val="9AA7B8"/>
                </a:solidFill>
                <a:latin typeface="Arial"/>
              </a:rPr>
              <a:t>B</a:t>
            </a:r>
          </a:p>
        </p:txBody>
      </p:sp>
      <p:sp>
        <p:nvSpPr>
          <p:cNvPr id="38" name="TextBox 37"/>
          <p:cNvSpPr txBox="1"/>
          <p:nvPr/>
        </p:nvSpPr>
        <p:spPr>
          <a:xfrm>
            <a:off x="9198863" y="4800600"/>
            <a:ext cx="2240280" cy="365760"/>
          </a:xfrm>
          <a:prstGeom prst="rect">
            <a:avLst/>
          </a:prstGeom>
          <a:noFill/>
        </p:spPr>
        <p:txBody>
          <a:bodyPr wrap="square" lIns="18288" rIns="18288" tIns="18288" bIns="18288" anchor="t">
            <a:spAutoFit/>
          </a:bodyPr>
          <a:lstStyle/>
          <a:p>
            <a:pPr algn="l">
              <a:lnSpc>
                <a:spcPct val="108000"/>
              </a:lnSpc>
            </a:pPr>
            <a:r>
              <a:rPr sz="1600" b="1" i="0">
                <a:solidFill>
                  <a:srgbClr val="E8EDF5"/>
                </a:solidFill>
                <a:latin typeface="Arial"/>
              </a:rPr>
              <a:t>Backup</a:t>
            </a:r>
          </a:p>
        </p:txBody>
      </p:sp>
      <p:sp>
        <p:nvSpPr>
          <p:cNvPr id="39" name="TextBox 38"/>
          <p:cNvSpPr txBox="1"/>
          <p:nvPr/>
        </p:nvSpPr>
        <p:spPr>
          <a:xfrm>
            <a:off x="9198863" y="5166360"/>
            <a:ext cx="2240280" cy="548640"/>
          </a:xfrm>
          <a:prstGeom prst="rect">
            <a:avLst/>
          </a:prstGeom>
          <a:noFill/>
        </p:spPr>
        <p:txBody>
          <a:bodyPr wrap="square" lIns="18288" rIns="18288" tIns="18288" bIns="18288" anchor="t">
            <a:spAutoFit/>
          </a:bodyPr>
          <a:lstStyle/>
          <a:p>
            <a:pPr algn="l">
              <a:lnSpc>
                <a:spcPct val="108000"/>
              </a:lnSpc>
            </a:pPr>
            <a:r>
              <a:rPr sz="1250" b="0" i="0">
                <a:solidFill>
                  <a:srgbClr val="9AA7B8"/>
                </a:solidFill>
                <a:latin typeface="Arial"/>
              </a:rPr>
              <a:t>Full tables for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F5A524"/>
                </a:solidFill>
                <a:latin typeface="Arial"/>
              </a:rPr>
              <a:t>01</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Motivation</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Pakistan faces lethal heat and catastrophic floods — often in the same pre-monsoon and monsoon season.</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MOTIVATION · HEAT</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Karachi 2015: one week of heat killed more than 1,200 people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4</a:t>
            </a:r>
          </a:p>
        </p:txBody>
      </p:sp>
      <p:sp>
        <p:nvSpPr>
          <p:cNvPr id="8" name="Rounded Rectangle 7"/>
          <p:cNvSpPr/>
          <p:nvPr/>
        </p:nvSpPr>
        <p:spPr>
          <a:xfrm>
            <a:off x="548640" y="1828800"/>
            <a:ext cx="3566160" cy="18288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93392"/>
            <a:ext cx="54864" cy="149961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56816"/>
            <a:ext cx="3200400" cy="726440"/>
          </a:xfrm>
          <a:prstGeom prst="rect">
            <a:avLst/>
          </a:prstGeom>
          <a:noFill/>
        </p:spPr>
        <p:txBody>
          <a:bodyPr wrap="square" lIns="18288" rIns="18288" tIns="18288" bIns="18288" anchor="t">
            <a:spAutoFit/>
          </a:bodyPr>
          <a:lstStyle/>
          <a:p>
            <a:pPr algn="l">
              <a:lnSpc>
                <a:spcPct val="108000"/>
              </a:lnSpc>
            </a:pPr>
            <a:r>
              <a:rPr sz="4400" b="1" i="0">
                <a:solidFill>
                  <a:srgbClr val="E5484D"/>
                </a:solidFill>
                <a:latin typeface="Arial"/>
              </a:rPr>
              <a:t>&gt;1,200</a:t>
            </a:r>
          </a:p>
        </p:txBody>
      </p:sp>
      <p:sp>
        <p:nvSpPr>
          <p:cNvPr id="11" name="TextBox 10"/>
          <p:cNvSpPr txBox="1"/>
          <p:nvPr/>
        </p:nvSpPr>
        <p:spPr>
          <a:xfrm>
            <a:off x="777240" y="2738120"/>
            <a:ext cx="3200400" cy="8280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deaths in Karachi during the 17–24 June 2015 heatwave</a:t>
            </a:r>
          </a:p>
        </p:txBody>
      </p:sp>
      <p:sp>
        <p:nvSpPr>
          <p:cNvPr id="12" name="Rounded Rectangle 11"/>
          <p:cNvSpPr/>
          <p:nvPr/>
        </p:nvSpPr>
        <p:spPr>
          <a:xfrm>
            <a:off x="4315968" y="1828800"/>
            <a:ext cx="3566160" cy="18288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993392"/>
            <a:ext cx="54864" cy="1499616"/>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956816"/>
            <a:ext cx="3200400" cy="726440"/>
          </a:xfrm>
          <a:prstGeom prst="rect">
            <a:avLst/>
          </a:prstGeom>
          <a:noFill/>
        </p:spPr>
        <p:txBody>
          <a:bodyPr wrap="square" lIns="18288" rIns="18288" tIns="18288" bIns="18288" anchor="t">
            <a:spAutoFit/>
          </a:bodyPr>
          <a:lstStyle/>
          <a:p>
            <a:pPr algn="l">
              <a:lnSpc>
                <a:spcPct val="108000"/>
              </a:lnSpc>
            </a:pPr>
            <a:r>
              <a:rPr sz="4400" b="1" i="0">
                <a:solidFill>
                  <a:srgbClr val="F5A524"/>
                </a:solidFill>
                <a:latin typeface="Arial"/>
              </a:rPr>
              <a:t>44.8 °C</a:t>
            </a:r>
          </a:p>
        </p:txBody>
      </p:sp>
      <p:sp>
        <p:nvSpPr>
          <p:cNvPr id="15" name="TextBox 14"/>
          <p:cNvSpPr txBox="1"/>
          <p:nvPr/>
        </p:nvSpPr>
        <p:spPr>
          <a:xfrm>
            <a:off x="4544568" y="2738120"/>
            <a:ext cx="3200400" cy="8280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maximum temperature on 20 June 2015, 11.1 °C above normal</a:t>
            </a:r>
          </a:p>
        </p:txBody>
      </p:sp>
      <p:sp>
        <p:nvSpPr>
          <p:cNvPr id="16" name="Rounded Rectangle 15"/>
          <p:cNvSpPr/>
          <p:nvPr/>
        </p:nvSpPr>
        <p:spPr>
          <a:xfrm>
            <a:off x="8083296" y="1828800"/>
            <a:ext cx="3566160" cy="18288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993392"/>
            <a:ext cx="54864" cy="1499616"/>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956816"/>
            <a:ext cx="3200400" cy="726440"/>
          </a:xfrm>
          <a:prstGeom prst="rect">
            <a:avLst/>
          </a:prstGeom>
          <a:noFill/>
        </p:spPr>
        <p:txBody>
          <a:bodyPr wrap="square" lIns="18288" rIns="18288" tIns="18288" bIns="18288" anchor="t">
            <a:spAutoFit/>
          </a:bodyPr>
          <a:lstStyle/>
          <a:p>
            <a:pPr algn="l">
              <a:lnSpc>
                <a:spcPct val="108000"/>
              </a:lnSpc>
            </a:pPr>
            <a:r>
              <a:rPr sz="4400" b="1" i="0">
                <a:solidFill>
                  <a:srgbClr val="F5A524"/>
                </a:solidFill>
                <a:latin typeface="Arial"/>
              </a:rPr>
              <a:t>≈66 °C</a:t>
            </a:r>
          </a:p>
        </p:txBody>
      </p:sp>
      <p:sp>
        <p:nvSpPr>
          <p:cNvPr id="19" name="TextBox 18"/>
          <p:cNvSpPr txBox="1"/>
          <p:nvPr/>
        </p:nvSpPr>
        <p:spPr>
          <a:xfrm>
            <a:off x="8311896" y="2738120"/>
            <a:ext cx="3200400" cy="8280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heat index on the peak day (high humidity, low wind)</a:t>
            </a:r>
          </a:p>
        </p:txBody>
      </p:sp>
      <p:sp>
        <p:nvSpPr>
          <p:cNvPr id="20" name="Rounded Rectangle 19"/>
          <p:cNvSpPr/>
          <p:nvPr/>
        </p:nvSpPr>
        <p:spPr>
          <a:xfrm>
            <a:off x="548640" y="4069080"/>
            <a:ext cx="11091672" cy="1600200"/>
          </a:xfrm>
          <a:prstGeom prst="roundRect">
            <a:avLst>
              <a:gd name="adj" fmla="val 5000"/>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06240"/>
            <a:ext cx="10607040" cy="365760"/>
          </a:xfrm>
          <a:prstGeom prst="rect">
            <a:avLst/>
          </a:prstGeom>
          <a:noFill/>
        </p:spPr>
        <p:txBody>
          <a:bodyPr wrap="square" lIns="18288" rIns="18288" tIns="18288" bIns="18288" anchor="t">
            <a:spAutoFit/>
          </a:bodyPr>
          <a:lstStyle/>
          <a:p>
            <a:pPr algn="l">
              <a:lnSpc>
                <a:spcPct val="108000"/>
              </a:lnSpc>
            </a:pPr>
            <a:r>
              <a:rPr sz="1500" b="1" i="0">
                <a:solidFill>
                  <a:srgbClr val="F5A524"/>
                </a:solidFill>
                <a:latin typeface="Arial"/>
              </a:rPr>
              <a:t>Why it matters for this thesis</a:t>
            </a:r>
          </a:p>
        </p:txBody>
      </p:sp>
      <p:sp>
        <p:nvSpPr>
          <p:cNvPr id="22" name="TextBox 21"/>
          <p:cNvSpPr txBox="1"/>
          <p:nvPr/>
        </p:nvSpPr>
        <p:spPr>
          <a:xfrm>
            <a:off x="822960" y="4617720"/>
            <a:ext cx="10607040" cy="1005840"/>
          </a:xfrm>
          <a:prstGeom prst="rect">
            <a:avLst/>
          </a:prstGeom>
          <a:noFill/>
        </p:spPr>
        <p:txBody>
          <a:bodyPr wrap="square" lIns="18288" rIns="18288" tIns="18288" bIns="18288" anchor="t">
            <a:spAutoFit/>
          </a:bodyPr>
          <a:lstStyle/>
          <a:p>
            <a:pPr algn="l">
              <a:lnSpc>
                <a:spcPct val="112000"/>
              </a:lnSpc>
            </a:pPr>
            <a:r>
              <a:rPr sz="1500" b="0" i="0">
                <a:solidFill>
                  <a:srgbClr val="E8EDF5"/>
                </a:solidFill>
                <a:latin typeface="Arial"/>
              </a:rPr>
              <a:t>The Ministry of Climate Change report calls the event unprecedented in its persistence, not its peak. Multi-day duration is therefore built into the heatwave label — and, as the results show, persistence is also the hardest baseline to beat.</a:t>
            </a:r>
          </a:p>
        </p:txBody>
      </p:sp>
      <p:sp>
        <p:nvSpPr>
          <p:cNvPr id="23" name="TextBox 22"/>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Ministry of Climate Change (MoCC), Technical Report on Karachi Heat Wave, June 2015 (Aug 2015), mocc.gov.pk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MOTIVATION · FLOOD</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The 2022 floods affected 33 million people and caused over US$14.9 billion in damage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5</a:t>
            </a:r>
          </a:p>
        </p:txBody>
      </p:sp>
      <p:sp>
        <p:nvSpPr>
          <p:cNvPr id="8" name="Rounded Rectangle 7"/>
          <p:cNvSpPr/>
          <p:nvPr/>
        </p:nvSpPr>
        <p:spPr>
          <a:xfrm>
            <a:off x="548640" y="1828800"/>
            <a:ext cx="2633472" cy="16002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93392"/>
            <a:ext cx="54864" cy="127101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56816"/>
            <a:ext cx="2267712" cy="594360"/>
          </a:xfrm>
          <a:prstGeom prst="rect">
            <a:avLst/>
          </a:prstGeom>
          <a:noFill/>
        </p:spPr>
        <p:txBody>
          <a:bodyPr wrap="square" lIns="18288" rIns="18288" tIns="18288" bIns="18288" anchor="t">
            <a:spAutoFit/>
          </a:bodyPr>
          <a:lstStyle/>
          <a:p>
            <a:pPr algn="l">
              <a:lnSpc>
                <a:spcPct val="108000"/>
              </a:lnSpc>
            </a:pPr>
            <a:r>
              <a:rPr sz="3600" b="1" i="0">
                <a:solidFill>
                  <a:srgbClr val="14B8A6"/>
                </a:solidFill>
                <a:latin typeface="Arial"/>
              </a:rPr>
              <a:t>33 million</a:t>
            </a:r>
          </a:p>
        </p:txBody>
      </p:sp>
      <p:sp>
        <p:nvSpPr>
          <p:cNvPr id="11" name="TextBox 10"/>
          <p:cNvSpPr txBox="1"/>
          <p:nvPr/>
        </p:nvSpPr>
        <p:spPr>
          <a:xfrm>
            <a:off x="777240" y="2606040"/>
            <a:ext cx="2267712" cy="73151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people affected</a:t>
            </a:r>
          </a:p>
        </p:txBody>
      </p:sp>
      <p:sp>
        <p:nvSpPr>
          <p:cNvPr id="12" name="Rounded Rectangle 11"/>
          <p:cNvSpPr/>
          <p:nvPr/>
        </p:nvSpPr>
        <p:spPr>
          <a:xfrm>
            <a:off x="3364992" y="1828800"/>
            <a:ext cx="2633472" cy="16002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4992" y="1993392"/>
            <a:ext cx="54864" cy="127101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956816"/>
            <a:ext cx="2267712" cy="594360"/>
          </a:xfrm>
          <a:prstGeom prst="rect">
            <a:avLst/>
          </a:prstGeom>
          <a:noFill/>
        </p:spPr>
        <p:txBody>
          <a:bodyPr wrap="square" lIns="18288" rIns="18288" tIns="18288" bIns="18288" anchor="t">
            <a:spAutoFit/>
          </a:bodyPr>
          <a:lstStyle/>
          <a:p>
            <a:pPr algn="l">
              <a:lnSpc>
                <a:spcPct val="108000"/>
              </a:lnSpc>
            </a:pPr>
            <a:r>
              <a:rPr sz="3600" b="1" i="0">
                <a:solidFill>
                  <a:srgbClr val="E5484D"/>
                </a:solidFill>
                <a:latin typeface="Arial"/>
              </a:rPr>
              <a:t>&gt;1,730</a:t>
            </a:r>
          </a:p>
        </p:txBody>
      </p:sp>
      <p:sp>
        <p:nvSpPr>
          <p:cNvPr id="15" name="TextBox 14"/>
          <p:cNvSpPr txBox="1"/>
          <p:nvPr/>
        </p:nvSpPr>
        <p:spPr>
          <a:xfrm>
            <a:off x="3593592" y="2606040"/>
            <a:ext cx="2267712" cy="73151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lives lost</a:t>
            </a:r>
          </a:p>
        </p:txBody>
      </p:sp>
      <p:sp>
        <p:nvSpPr>
          <p:cNvPr id="16" name="Rounded Rectangle 15"/>
          <p:cNvSpPr/>
          <p:nvPr/>
        </p:nvSpPr>
        <p:spPr>
          <a:xfrm>
            <a:off x="6181344" y="1828800"/>
            <a:ext cx="2633472" cy="16002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993392"/>
            <a:ext cx="54864" cy="127101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956816"/>
            <a:ext cx="2267712" cy="594360"/>
          </a:xfrm>
          <a:prstGeom prst="rect">
            <a:avLst/>
          </a:prstGeom>
          <a:noFill/>
        </p:spPr>
        <p:txBody>
          <a:bodyPr wrap="square" lIns="18288" rIns="18288" tIns="18288" bIns="18288" anchor="t">
            <a:spAutoFit/>
          </a:bodyPr>
          <a:lstStyle/>
          <a:p>
            <a:pPr algn="l">
              <a:lnSpc>
                <a:spcPct val="108000"/>
              </a:lnSpc>
            </a:pPr>
            <a:r>
              <a:rPr sz="3600" b="1" i="0">
                <a:solidFill>
                  <a:srgbClr val="3B82F6"/>
                </a:solidFill>
                <a:latin typeface="Arial"/>
              </a:rPr>
              <a:t>&gt;$14.9 bn</a:t>
            </a:r>
          </a:p>
        </p:txBody>
      </p:sp>
      <p:sp>
        <p:nvSpPr>
          <p:cNvPr id="19" name="TextBox 18"/>
          <p:cNvSpPr txBox="1"/>
          <p:nvPr/>
        </p:nvSpPr>
        <p:spPr>
          <a:xfrm>
            <a:off x="6409944" y="2606040"/>
            <a:ext cx="2267712" cy="73151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damages (US$)</a:t>
            </a:r>
          </a:p>
        </p:txBody>
      </p:sp>
      <p:sp>
        <p:nvSpPr>
          <p:cNvPr id="20" name="Rounded Rectangle 19"/>
          <p:cNvSpPr/>
          <p:nvPr/>
        </p:nvSpPr>
        <p:spPr>
          <a:xfrm>
            <a:off x="8997696" y="1828800"/>
            <a:ext cx="2633472" cy="16002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97696" y="1993392"/>
            <a:ext cx="54864" cy="127101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1956816"/>
            <a:ext cx="2267712" cy="594360"/>
          </a:xfrm>
          <a:prstGeom prst="rect">
            <a:avLst/>
          </a:prstGeom>
          <a:noFill/>
        </p:spPr>
        <p:txBody>
          <a:bodyPr wrap="square" lIns="18288" rIns="18288" tIns="18288" bIns="18288" anchor="t">
            <a:spAutoFit/>
          </a:bodyPr>
          <a:lstStyle/>
          <a:p>
            <a:pPr algn="l">
              <a:lnSpc>
                <a:spcPct val="108000"/>
              </a:lnSpc>
            </a:pPr>
            <a:r>
              <a:rPr sz="3600" b="1" i="0">
                <a:solidFill>
                  <a:srgbClr val="3B82F6"/>
                </a:solidFill>
                <a:latin typeface="Arial"/>
              </a:rPr>
              <a:t>≈$15.2 bn</a:t>
            </a:r>
          </a:p>
        </p:txBody>
      </p:sp>
      <p:sp>
        <p:nvSpPr>
          <p:cNvPr id="23" name="TextBox 22"/>
          <p:cNvSpPr txBox="1"/>
          <p:nvPr/>
        </p:nvSpPr>
        <p:spPr>
          <a:xfrm>
            <a:off x="9226296" y="2606040"/>
            <a:ext cx="2267712" cy="73151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economic losses (US$)</a:t>
            </a:r>
          </a:p>
        </p:txBody>
      </p:sp>
      <p:sp>
        <p:nvSpPr>
          <p:cNvPr id="24" name="Rounded Rectangle 23"/>
          <p:cNvSpPr/>
          <p:nvPr/>
        </p:nvSpPr>
        <p:spPr>
          <a:xfrm>
            <a:off x="548640" y="3749039"/>
            <a:ext cx="11091672" cy="1554480"/>
          </a:xfrm>
          <a:prstGeom prst="roundRect">
            <a:avLst>
              <a:gd name="adj" fmla="val 5000"/>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886200"/>
            <a:ext cx="10607040" cy="365760"/>
          </a:xfrm>
          <a:prstGeom prst="rect">
            <a:avLst/>
          </a:prstGeom>
          <a:noFill/>
        </p:spPr>
        <p:txBody>
          <a:bodyPr wrap="square" lIns="18288" rIns="18288" tIns="18288" bIns="18288" anchor="t">
            <a:spAutoFit/>
          </a:bodyPr>
          <a:lstStyle/>
          <a:p>
            <a:pPr algn="l">
              <a:lnSpc>
                <a:spcPct val="108000"/>
              </a:lnSpc>
            </a:pPr>
            <a:r>
              <a:rPr sz="1500" b="1" i="0">
                <a:solidFill>
                  <a:srgbClr val="14B8A6"/>
                </a:solidFill>
                <a:latin typeface="Arial"/>
              </a:rPr>
              <a:t>Why it matters for this thesis</a:t>
            </a:r>
          </a:p>
        </p:txBody>
      </p:sp>
      <p:sp>
        <p:nvSpPr>
          <p:cNvPr id="26" name="TextBox 25"/>
          <p:cNvSpPr txBox="1"/>
          <p:nvPr/>
        </p:nvSpPr>
        <p:spPr>
          <a:xfrm>
            <a:off x="822960" y="4297680"/>
            <a:ext cx="10607040" cy="914400"/>
          </a:xfrm>
          <a:prstGeom prst="rect">
            <a:avLst/>
          </a:prstGeom>
          <a:noFill/>
        </p:spPr>
        <p:txBody>
          <a:bodyPr wrap="square" lIns="18288" rIns="18288" tIns="18288" bIns="18288" anchor="t">
            <a:spAutoFit/>
          </a:bodyPr>
          <a:lstStyle/>
          <a:p>
            <a:pPr algn="l">
              <a:lnSpc>
                <a:spcPct val="112000"/>
              </a:lnSpc>
            </a:pPr>
            <a:r>
              <a:rPr sz="1500" b="0" i="0">
                <a:solidFill>
                  <a:srgbClr val="E8EDF5"/>
                </a:solidFill>
                <a:latin typeface="Arial"/>
              </a:rPr>
              <a:t>2022 was also an exceptionally hot pre-monsoon year. It is the held-out test year here, so every model is judged on an extreme, out-of-distribution season.</a:t>
            </a:r>
          </a:p>
        </p:txBody>
      </p:sp>
      <p:sp>
        <p:nvSpPr>
          <p:cNvPr id="27" name="TextBox 26"/>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Pakistan Floods 2022 Post-Disaster Needs Assessment (PDNA), MoPD&amp;SI with ADB, EU, UN, World Bank, Oct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MOTIVATION · APPROACH</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Timely local warnings need data-driven models on scalable data infrastructure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6</a:t>
            </a:r>
          </a:p>
        </p:txBody>
      </p:sp>
      <p:sp>
        <p:nvSpPr>
          <p:cNvPr id="8" name="Rounded Rectangle 7"/>
          <p:cNvSpPr/>
          <p:nvPr/>
        </p:nvSpPr>
        <p:spPr>
          <a:xfrm>
            <a:off x="548640" y="1828800"/>
            <a:ext cx="3566160" cy="23774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3566160" cy="5486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93392"/>
            <a:ext cx="3200400" cy="411480"/>
          </a:xfrm>
          <a:prstGeom prst="rect">
            <a:avLst/>
          </a:prstGeom>
          <a:noFill/>
        </p:spPr>
        <p:txBody>
          <a:bodyPr wrap="square" lIns="18288" rIns="18288" tIns="18288" bIns="18288" anchor="t">
            <a:spAutoFit/>
          </a:bodyPr>
          <a:lstStyle/>
          <a:p>
            <a:pPr algn="l">
              <a:lnSpc>
                <a:spcPct val="108000"/>
              </a:lnSpc>
            </a:pPr>
            <a:r>
              <a:rPr sz="1500" b="1" i="0">
                <a:solidFill>
                  <a:srgbClr val="F5A524"/>
                </a:solidFill>
                <a:latin typeface="Arial"/>
              </a:rPr>
              <a:t>NWP is costly locally</a:t>
            </a:r>
          </a:p>
        </p:txBody>
      </p:sp>
      <p:sp>
        <p:nvSpPr>
          <p:cNvPr id="11" name="TextBox 10"/>
          <p:cNvSpPr txBox="1"/>
          <p:nvPr/>
        </p:nvSpPr>
        <p:spPr>
          <a:xfrm>
            <a:off x="731520" y="2423160"/>
            <a:ext cx="3200400" cy="169164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Numerical weather prediction is physically rigorous but expensive at the localised, sub-daily resolution that actionable warnings need.</a:t>
            </a:r>
          </a:p>
        </p:txBody>
      </p:sp>
      <p:sp>
        <p:nvSpPr>
          <p:cNvPr id="12" name="Rounded Rectangle 11"/>
          <p:cNvSpPr/>
          <p:nvPr/>
        </p:nvSpPr>
        <p:spPr>
          <a:xfrm>
            <a:off x="4315968" y="1828800"/>
            <a:ext cx="3566160" cy="23774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356616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93392"/>
            <a:ext cx="3200400" cy="411480"/>
          </a:xfrm>
          <a:prstGeom prst="rect">
            <a:avLst/>
          </a:prstGeom>
          <a:noFill/>
        </p:spPr>
        <p:txBody>
          <a:bodyPr wrap="square" lIns="18288" rIns="18288" tIns="18288" bIns="18288" anchor="t">
            <a:spAutoFit/>
          </a:bodyPr>
          <a:lstStyle/>
          <a:p>
            <a:pPr algn="l">
              <a:lnSpc>
                <a:spcPct val="108000"/>
              </a:lnSpc>
            </a:pPr>
            <a:r>
              <a:rPr sz="1500" b="1" i="0">
                <a:solidFill>
                  <a:srgbClr val="14B8A6"/>
                </a:solidFill>
                <a:latin typeface="Arial"/>
              </a:rPr>
              <a:t>Climate data is Big Data</a:t>
            </a:r>
          </a:p>
        </p:txBody>
      </p:sp>
      <p:sp>
        <p:nvSpPr>
          <p:cNvPr id="15" name="TextBox 14"/>
          <p:cNvSpPr txBox="1"/>
          <p:nvPr/>
        </p:nvSpPr>
        <p:spPr>
          <a:xfrm>
            <a:off x="4498848" y="2423160"/>
            <a:ext cx="3200400" cy="169164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ERA5 alone provides hourly global fields at 0.25° over decades: volume, velocity and variety beyond traditional pipelines.</a:t>
            </a:r>
          </a:p>
        </p:txBody>
      </p:sp>
      <p:sp>
        <p:nvSpPr>
          <p:cNvPr id="16" name="Rounded Rectangle 15"/>
          <p:cNvSpPr/>
          <p:nvPr/>
        </p:nvSpPr>
        <p:spPr>
          <a:xfrm>
            <a:off x="8083296" y="1828800"/>
            <a:ext cx="3566160" cy="23774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828800"/>
            <a:ext cx="3566160" cy="5486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5" y="1993392"/>
            <a:ext cx="3200400" cy="411480"/>
          </a:xfrm>
          <a:prstGeom prst="rect">
            <a:avLst/>
          </a:prstGeom>
          <a:noFill/>
        </p:spPr>
        <p:txBody>
          <a:bodyPr wrap="square" lIns="18288" rIns="18288" tIns="18288" bIns="18288" anchor="t">
            <a:spAutoFit/>
          </a:bodyPr>
          <a:lstStyle/>
          <a:p>
            <a:pPr algn="l">
              <a:lnSpc>
                <a:spcPct val="108000"/>
              </a:lnSpc>
            </a:pPr>
            <a:r>
              <a:rPr sz="1500" b="1" i="0">
                <a:solidFill>
                  <a:srgbClr val="3B82F6"/>
                </a:solidFill>
                <a:latin typeface="Arial"/>
              </a:rPr>
              <a:t>Agencies need explainable alerts</a:t>
            </a:r>
          </a:p>
        </p:txBody>
      </p:sp>
      <p:sp>
        <p:nvSpPr>
          <p:cNvPr id="19" name="TextBox 18"/>
          <p:cNvSpPr txBox="1"/>
          <p:nvPr/>
        </p:nvSpPr>
        <p:spPr>
          <a:xfrm>
            <a:off x="8266175" y="2423160"/>
            <a:ext cx="3200400" cy="169164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Forecasts and alerts must be accurate, timely and explainable — and run on modest computing infrastructure.</a:t>
            </a:r>
          </a:p>
        </p:txBody>
      </p:sp>
      <p:sp>
        <p:nvSpPr>
          <p:cNvPr id="20" name="Rounded Rectangle 19"/>
          <p:cNvSpPr/>
          <p:nvPr/>
        </p:nvSpPr>
        <p:spPr>
          <a:xfrm>
            <a:off x="548640" y="4526280"/>
            <a:ext cx="11091672" cy="1325880"/>
          </a:xfrm>
          <a:prstGeom prst="roundRect">
            <a:avLst>
              <a:gd name="adj" fmla="val 6000"/>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526280"/>
            <a:ext cx="10607040" cy="1325880"/>
          </a:xfrm>
          <a:prstGeom prst="rect">
            <a:avLst/>
          </a:prstGeom>
          <a:noFill/>
        </p:spPr>
        <p:txBody>
          <a:bodyPr wrap="square" lIns="18288" rIns="18288" tIns="18288" bIns="18288" anchor="ctr">
            <a:spAutoFit/>
          </a:bodyPr>
          <a:lstStyle/>
          <a:p>
            <a:pPr algn="l">
              <a:lnSpc>
                <a:spcPct val="115000"/>
              </a:lnSpc>
            </a:pPr>
            <a:r>
              <a:rPr sz="1700" b="0" i="0">
                <a:solidFill>
                  <a:srgbClr val="E8EDF5"/>
                </a:solidFill>
                <a:latin typeface="Arial"/>
              </a:rPr>
              <a:t>Spark and Kafka make the infrastructure practical; LSTM and ConvLSTM make the models practical. </a:t>
            </a:r>
            <a:r>
              <a:rPr sz="1700" b="1" i="0">
                <a:solidFill>
                  <a:srgbClr val="F5A524"/>
                </a:solidFill>
                <a:latin typeface="Arial"/>
              </a:rPr>
              <a:t>The literature rarely joins the two — that join is this 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F5A524"/>
                </a:solidFill>
                <a:latin typeface="Arial"/>
              </a:rPr>
              <a:t>02</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Problem, research questions and gap</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No reviewed study couples a streaming Big Data pipeline to trained heatwave and flash-flood detectors for Pakistan.</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PROBLEM STATEMENT</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Five gaps stand between current research and operational warning in Pakistan</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8</a:t>
            </a:r>
          </a:p>
        </p:txBody>
      </p:sp>
      <p:sp>
        <p:nvSpPr>
          <p:cNvPr id="8" name="Rounded Rectangle 7"/>
          <p:cNvSpPr/>
          <p:nvPr/>
        </p:nvSpPr>
        <p:spPr>
          <a:xfrm>
            <a:off x="548640" y="1783080"/>
            <a:ext cx="11091672" cy="694944"/>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83080"/>
            <a:ext cx="731520" cy="694944"/>
          </a:xfrm>
          <a:prstGeom prst="rect">
            <a:avLst/>
          </a:prstGeom>
          <a:noFill/>
        </p:spPr>
        <p:txBody>
          <a:bodyPr wrap="square" lIns="18288" rIns="18288" tIns="18288" bIns="18288" anchor="ctr">
            <a:spAutoFit/>
          </a:bodyPr>
          <a:lstStyle/>
          <a:p>
            <a:pPr algn="l">
              <a:lnSpc>
                <a:spcPct val="108000"/>
              </a:lnSpc>
            </a:pPr>
            <a:r>
              <a:rPr sz="2200" b="1" i="0">
                <a:solidFill>
                  <a:srgbClr val="F5A524"/>
                </a:solidFill>
                <a:latin typeface="Arial"/>
              </a:rPr>
              <a:t>i</a:t>
            </a:r>
          </a:p>
        </p:txBody>
      </p:sp>
      <p:sp>
        <p:nvSpPr>
          <p:cNvPr id="10" name="TextBox 9"/>
          <p:cNvSpPr txBox="1"/>
          <p:nvPr/>
        </p:nvSpPr>
        <p:spPr>
          <a:xfrm>
            <a:off x="1463040" y="1783080"/>
            <a:ext cx="9966960" cy="694944"/>
          </a:xfrm>
          <a:prstGeom prst="rect">
            <a:avLst/>
          </a:prstGeom>
          <a:noFill/>
        </p:spPr>
        <p:txBody>
          <a:bodyPr wrap="square" lIns="18288" rIns="18288" tIns="18288" bIns="18288" anchor="ctr">
            <a:spAutoFit/>
          </a:bodyPr>
          <a:lstStyle/>
          <a:p>
            <a:pPr algn="l">
              <a:lnSpc>
                <a:spcPct val="108000"/>
              </a:lnSpc>
            </a:pPr>
            <a:r>
              <a:rPr sz="1650" b="0" i="0">
                <a:solidFill>
                  <a:srgbClr val="E8EDF5"/>
                </a:solidFill>
                <a:latin typeface="Arial"/>
              </a:rPr>
              <a:t>No reviewed study couples a streaming Big Data ingestion pipeline to a trained heatwave or flash-flood detector.</a:t>
            </a:r>
          </a:p>
        </p:txBody>
      </p:sp>
      <p:sp>
        <p:nvSpPr>
          <p:cNvPr id="11" name="Rounded Rectangle 10"/>
          <p:cNvSpPr/>
          <p:nvPr/>
        </p:nvSpPr>
        <p:spPr>
          <a:xfrm>
            <a:off x="548640" y="2606040"/>
            <a:ext cx="11091672" cy="694944"/>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06040"/>
            <a:ext cx="731520" cy="694944"/>
          </a:xfrm>
          <a:prstGeom prst="rect">
            <a:avLst/>
          </a:prstGeom>
          <a:noFill/>
        </p:spPr>
        <p:txBody>
          <a:bodyPr wrap="square" lIns="18288" rIns="18288" tIns="18288" bIns="18288" anchor="ctr">
            <a:spAutoFit/>
          </a:bodyPr>
          <a:lstStyle/>
          <a:p>
            <a:pPr algn="l">
              <a:lnSpc>
                <a:spcPct val="108000"/>
              </a:lnSpc>
            </a:pPr>
            <a:r>
              <a:rPr sz="2200" b="1" i="0">
                <a:solidFill>
                  <a:srgbClr val="F5A524"/>
                </a:solidFill>
                <a:latin typeface="Arial"/>
              </a:rPr>
              <a:t>ii</a:t>
            </a:r>
          </a:p>
        </p:txBody>
      </p:sp>
      <p:sp>
        <p:nvSpPr>
          <p:cNvPr id="13" name="TextBox 12"/>
          <p:cNvSpPr txBox="1"/>
          <p:nvPr/>
        </p:nvSpPr>
        <p:spPr>
          <a:xfrm>
            <a:off x="1463040" y="2606040"/>
            <a:ext cx="9966960" cy="694944"/>
          </a:xfrm>
          <a:prstGeom prst="rect">
            <a:avLst/>
          </a:prstGeom>
          <a:noFill/>
        </p:spPr>
        <p:txBody>
          <a:bodyPr wrap="square" lIns="18288" rIns="18288" tIns="18288" bIns="18288" anchor="ctr">
            <a:spAutoFit/>
          </a:bodyPr>
          <a:lstStyle/>
          <a:p>
            <a:pPr algn="l">
              <a:lnSpc>
                <a:spcPct val="108000"/>
              </a:lnSpc>
            </a:pPr>
            <a:r>
              <a:rPr sz="1650" b="0" i="0">
                <a:solidFill>
                  <a:srgbClr val="E8EDF5"/>
                </a:solidFill>
                <a:latin typeface="Arial"/>
              </a:rPr>
              <a:t>Processing latency and throughput are rarely reported alongside accuracy.</a:t>
            </a:r>
          </a:p>
        </p:txBody>
      </p:sp>
      <p:sp>
        <p:nvSpPr>
          <p:cNvPr id="14" name="Rounded Rectangle 13"/>
          <p:cNvSpPr/>
          <p:nvPr/>
        </p:nvSpPr>
        <p:spPr>
          <a:xfrm>
            <a:off x="548640" y="3429000"/>
            <a:ext cx="11091672" cy="694944"/>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429000"/>
            <a:ext cx="731520" cy="694944"/>
          </a:xfrm>
          <a:prstGeom prst="rect">
            <a:avLst/>
          </a:prstGeom>
          <a:noFill/>
        </p:spPr>
        <p:txBody>
          <a:bodyPr wrap="square" lIns="18288" rIns="18288" tIns="18288" bIns="18288" anchor="ctr">
            <a:spAutoFit/>
          </a:bodyPr>
          <a:lstStyle/>
          <a:p>
            <a:pPr algn="l">
              <a:lnSpc>
                <a:spcPct val="108000"/>
              </a:lnSpc>
            </a:pPr>
            <a:r>
              <a:rPr sz="2200" b="1" i="0">
                <a:solidFill>
                  <a:srgbClr val="F5A524"/>
                </a:solidFill>
                <a:latin typeface="Arial"/>
              </a:rPr>
              <a:t>iii</a:t>
            </a:r>
          </a:p>
        </p:txBody>
      </p:sp>
      <p:sp>
        <p:nvSpPr>
          <p:cNvPr id="16" name="TextBox 15"/>
          <p:cNvSpPr txBox="1"/>
          <p:nvPr/>
        </p:nvSpPr>
        <p:spPr>
          <a:xfrm>
            <a:off x="1463040" y="3429000"/>
            <a:ext cx="9966960" cy="694944"/>
          </a:xfrm>
          <a:prstGeom prst="rect">
            <a:avLst/>
          </a:prstGeom>
          <a:noFill/>
        </p:spPr>
        <p:txBody>
          <a:bodyPr wrap="square" lIns="18288" rIns="18288" tIns="18288" bIns="18288" anchor="ctr">
            <a:spAutoFit/>
          </a:bodyPr>
          <a:lstStyle/>
          <a:p>
            <a:pPr algn="l">
              <a:lnSpc>
                <a:spcPct val="108000"/>
              </a:lnSpc>
            </a:pPr>
            <a:r>
              <a:rPr sz="1650" b="0" i="0">
                <a:solidFill>
                  <a:srgbClr val="E8EDF5"/>
                </a:solidFill>
                <a:latin typeface="Arial"/>
              </a:rPr>
              <a:t>Validation on Pakistan-specific data — PMD station data in particular — is scarce.</a:t>
            </a:r>
          </a:p>
        </p:txBody>
      </p:sp>
      <p:sp>
        <p:nvSpPr>
          <p:cNvPr id="17" name="Rounded Rectangle 16"/>
          <p:cNvSpPr/>
          <p:nvPr/>
        </p:nvSpPr>
        <p:spPr>
          <a:xfrm>
            <a:off x="548640" y="4251960"/>
            <a:ext cx="11091672" cy="694944"/>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251960"/>
            <a:ext cx="731520" cy="694944"/>
          </a:xfrm>
          <a:prstGeom prst="rect">
            <a:avLst/>
          </a:prstGeom>
          <a:noFill/>
        </p:spPr>
        <p:txBody>
          <a:bodyPr wrap="square" lIns="18288" rIns="18288" tIns="18288" bIns="18288" anchor="ctr">
            <a:spAutoFit/>
          </a:bodyPr>
          <a:lstStyle/>
          <a:p>
            <a:pPr algn="l">
              <a:lnSpc>
                <a:spcPct val="108000"/>
              </a:lnSpc>
            </a:pPr>
            <a:r>
              <a:rPr sz="2200" b="1" i="0">
                <a:solidFill>
                  <a:srgbClr val="F5A524"/>
                </a:solidFill>
                <a:latin typeface="Arial"/>
              </a:rPr>
              <a:t>iv</a:t>
            </a:r>
          </a:p>
        </p:txBody>
      </p:sp>
      <p:sp>
        <p:nvSpPr>
          <p:cNvPr id="19" name="TextBox 18"/>
          <p:cNvSpPr txBox="1"/>
          <p:nvPr/>
        </p:nvSpPr>
        <p:spPr>
          <a:xfrm>
            <a:off x="1463040" y="4251960"/>
            <a:ext cx="9966960" cy="694944"/>
          </a:xfrm>
          <a:prstGeom prst="rect">
            <a:avLst/>
          </a:prstGeom>
          <a:noFill/>
        </p:spPr>
        <p:txBody>
          <a:bodyPr wrap="square" lIns="18288" rIns="18288" tIns="18288" bIns="18288" anchor="ctr">
            <a:spAutoFit/>
          </a:bodyPr>
          <a:lstStyle/>
          <a:p>
            <a:pPr algn="l">
              <a:lnSpc>
                <a:spcPct val="108000"/>
              </a:lnSpc>
            </a:pPr>
            <a:r>
              <a:rPr sz="1650" b="0" i="0">
                <a:solidFill>
                  <a:srgbClr val="E8EDF5"/>
                </a:solidFill>
                <a:latin typeface="Arial"/>
              </a:rPr>
              <a:t>Heatwaves and flash floods are not modelled within one pipeline.</a:t>
            </a:r>
          </a:p>
        </p:txBody>
      </p:sp>
      <p:sp>
        <p:nvSpPr>
          <p:cNvPr id="20" name="Rounded Rectangle 19"/>
          <p:cNvSpPr/>
          <p:nvPr/>
        </p:nvSpPr>
        <p:spPr>
          <a:xfrm>
            <a:off x="548640" y="5074920"/>
            <a:ext cx="11091672" cy="694944"/>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074920"/>
            <a:ext cx="731520" cy="694944"/>
          </a:xfrm>
          <a:prstGeom prst="rect">
            <a:avLst/>
          </a:prstGeom>
          <a:noFill/>
        </p:spPr>
        <p:txBody>
          <a:bodyPr wrap="square" lIns="18288" rIns="18288" tIns="18288" bIns="18288" anchor="ctr">
            <a:spAutoFit/>
          </a:bodyPr>
          <a:lstStyle/>
          <a:p>
            <a:pPr algn="l">
              <a:lnSpc>
                <a:spcPct val="108000"/>
              </a:lnSpc>
            </a:pPr>
            <a:r>
              <a:rPr sz="2200" b="1" i="0">
                <a:solidFill>
                  <a:srgbClr val="F5A524"/>
                </a:solidFill>
                <a:latin typeface="Arial"/>
              </a:rPr>
              <a:t>v</a:t>
            </a:r>
          </a:p>
        </p:txBody>
      </p:sp>
      <p:sp>
        <p:nvSpPr>
          <p:cNvPr id="22" name="TextBox 21"/>
          <p:cNvSpPr txBox="1"/>
          <p:nvPr/>
        </p:nvSpPr>
        <p:spPr>
          <a:xfrm>
            <a:off x="1463040" y="5074920"/>
            <a:ext cx="9966960" cy="694944"/>
          </a:xfrm>
          <a:prstGeom prst="rect">
            <a:avLst/>
          </a:prstGeom>
          <a:noFill/>
        </p:spPr>
        <p:txBody>
          <a:bodyPr wrap="square" lIns="18288" rIns="18288" tIns="18288" bIns="18288" anchor="ctr">
            <a:spAutoFit/>
          </a:bodyPr>
          <a:lstStyle/>
          <a:p>
            <a:pPr algn="l">
              <a:lnSpc>
                <a:spcPct val="108000"/>
              </a:lnSpc>
            </a:pPr>
            <a:r>
              <a:rPr sz="1650" b="0" i="0">
                <a:solidFill>
                  <a:srgbClr val="E8EDF5"/>
                </a:solidFill>
                <a:latin typeface="Arial"/>
              </a:rPr>
              <a:t>Explainability is applied inconsistently.</a:t>
            </a:r>
          </a:p>
        </p:txBody>
      </p:sp>
      <p:sp>
        <p:nvSpPr>
          <p:cNvPr id="23" name="TextBox 22"/>
          <p:cNvSpPr txBox="1"/>
          <p:nvPr/>
        </p:nvSpPr>
        <p:spPr>
          <a:xfrm>
            <a:off x="548640" y="5943600"/>
            <a:ext cx="11064240" cy="320040"/>
          </a:xfrm>
          <a:prstGeom prst="rect">
            <a:avLst/>
          </a:prstGeom>
          <a:noFill/>
        </p:spPr>
        <p:txBody>
          <a:bodyPr wrap="square" lIns="18288" rIns="18288" tIns="18288" bIns="18288" anchor="t">
            <a:spAutoFit/>
          </a:bodyPr>
          <a:lstStyle/>
          <a:p>
            <a:pPr algn="l">
              <a:lnSpc>
                <a:spcPct val="108000"/>
              </a:lnSpc>
            </a:pPr>
            <a:r>
              <a:rPr sz="1350" b="0" i="1">
                <a:solidFill>
                  <a:srgbClr val="9AA7B8"/>
                </a:solidFill>
                <a:latin typeface="Arial"/>
              </a:rPr>
              <a:t>Need: accurate, timely, explainable alerts produced on modest computing infrastructure.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AIM AND OBJECTIVES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Six objectives carried unchanged from the approved proposal</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9</a:t>
            </a:r>
          </a:p>
        </p:txBody>
      </p:sp>
      <p:sp>
        <p:nvSpPr>
          <p:cNvPr id="8" name="Rounded Rectangle 7"/>
          <p:cNvSpPr/>
          <p:nvPr/>
        </p:nvSpPr>
        <p:spPr>
          <a:xfrm>
            <a:off x="548640" y="1783080"/>
            <a:ext cx="5440680" cy="1207008"/>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92807"/>
            <a:ext cx="822960" cy="457200"/>
          </a:xfrm>
          <a:prstGeom prst="rect">
            <a:avLst/>
          </a:prstGeom>
          <a:noFill/>
        </p:spPr>
        <p:txBody>
          <a:bodyPr wrap="square" lIns="18288" rIns="18288" tIns="18288" bIns="18288" anchor="t">
            <a:spAutoFit/>
          </a:bodyPr>
          <a:lstStyle/>
          <a:p>
            <a:pPr algn="l">
              <a:lnSpc>
                <a:spcPct val="108000"/>
              </a:lnSpc>
            </a:pPr>
            <a:r>
              <a:rPr sz="2000" b="1" i="0">
                <a:solidFill>
                  <a:srgbClr val="F5A524"/>
                </a:solidFill>
                <a:latin typeface="Arial"/>
              </a:rPr>
              <a:t>O1</a:t>
            </a:r>
          </a:p>
        </p:txBody>
      </p:sp>
      <p:sp>
        <p:nvSpPr>
          <p:cNvPr id="10" name="TextBox 9"/>
          <p:cNvSpPr txBox="1"/>
          <p:nvPr/>
        </p:nvSpPr>
        <p:spPr>
          <a:xfrm>
            <a:off x="1508760" y="1892807"/>
            <a:ext cx="4343400" cy="10058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Focused literature review of Big Data and deep learning for temperature, precipitation, heatwave and flash-flood work, with a South Asian focus.</a:t>
            </a:r>
          </a:p>
        </p:txBody>
      </p:sp>
      <p:sp>
        <p:nvSpPr>
          <p:cNvPr id="11" name="Rounded Rectangle 10"/>
          <p:cNvSpPr/>
          <p:nvPr/>
        </p:nvSpPr>
        <p:spPr>
          <a:xfrm>
            <a:off x="6153912" y="1783080"/>
            <a:ext cx="5440680" cy="1207008"/>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892807"/>
            <a:ext cx="822960" cy="457200"/>
          </a:xfrm>
          <a:prstGeom prst="rect">
            <a:avLst/>
          </a:prstGeom>
          <a:noFill/>
        </p:spPr>
        <p:txBody>
          <a:bodyPr wrap="square" lIns="18288" rIns="18288" tIns="18288" bIns="18288" anchor="t">
            <a:spAutoFit/>
          </a:bodyPr>
          <a:lstStyle/>
          <a:p>
            <a:pPr algn="l">
              <a:lnSpc>
                <a:spcPct val="108000"/>
              </a:lnSpc>
            </a:pPr>
            <a:r>
              <a:rPr sz="2000" b="1" i="0">
                <a:solidFill>
                  <a:srgbClr val="F5A524"/>
                </a:solidFill>
                <a:latin typeface="Arial"/>
              </a:rPr>
              <a:t>O2</a:t>
            </a:r>
          </a:p>
        </p:txBody>
      </p:sp>
      <p:sp>
        <p:nvSpPr>
          <p:cNvPr id="13" name="TextBox 12"/>
          <p:cNvSpPr txBox="1"/>
          <p:nvPr/>
        </p:nvSpPr>
        <p:spPr>
          <a:xfrm>
            <a:off x="7114031" y="1892807"/>
            <a:ext cx="4343400" cy="10058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Identify the data sources, architectures and evaluation practices that most influence accuracy.</a:t>
            </a:r>
          </a:p>
        </p:txBody>
      </p:sp>
      <p:sp>
        <p:nvSpPr>
          <p:cNvPr id="14" name="Rounded Rectangle 13"/>
          <p:cNvSpPr/>
          <p:nvPr/>
        </p:nvSpPr>
        <p:spPr>
          <a:xfrm>
            <a:off x="548640" y="3154680"/>
            <a:ext cx="5440680" cy="1207008"/>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64408"/>
            <a:ext cx="822960" cy="457200"/>
          </a:xfrm>
          <a:prstGeom prst="rect">
            <a:avLst/>
          </a:prstGeom>
          <a:noFill/>
        </p:spPr>
        <p:txBody>
          <a:bodyPr wrap="square" lIns="18288" rIns="18288" tIns="18288" bIns="18288" anchor="t">
            <a:spAutoFit/>
          </a:bodyPr>
          <a:lstStyle/>
          <a:p>
            <a:pPr algn="l">
              <a:lnSpc>
                <a:spcPct val="108000"/>
              </a:lnSpc>
            </a:pPr>
            <a:r>
              <a:rPr sz="2000" b="1" i="0">
                <a:solidFill>
                  <a:srgbClr val="14B8A6"/>
                </a:solidFill>
                <a:latin typeface="Arial"/>
              </a:rPr>
              <a:t>O3</a:t>
            </a:r>
          </a:p>
        </p:txBody>
      </p:sp>
      <p:sp>
        <p:nvSpPr>
          <p:cNvPr id="16" name="TextBox 15"/>
          <p:cNvSpPr txBox="1"/>
          <p:nvPr/>
        </p:nvSpPr>
        <p:spPr>
          <a:xfrm>
            <a:off x="1508760" y="3264408"/>
            <a:ext cx="4343400" cy="10058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Design and implement a distributed pipeline (Spark, Kafka, Hadoop) for ERA5 and PMD data.</a:t>
            </a:r>
          </a:p>
        </p:txBody>
      </p:sp>
      <p:sp>
        <p:nvSpPr>
          <p:cNvPr id="17" name="Rounded Rectangle 16"/>
          <p:cNvSpPr/>
          <p:nvPr/>
        </p:nvSpPr>
        <p:spPr>
          <a:xfrm>
            <a:off x="6153912" y="3154680"/>
            <a:ext cx="5440680" cy="1207008"/>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3264408"/>
            <a:ext cx="822960" cy="457200"/>
          </a:xfrm>
          <a:prstGeom prst="rect">
            <a:avLst/>
          </a:prstGeom>
          <a:noFill/>
        </p:spPr>
        <p:txBody>
          <a:bodyPr wrap="square" lIns="18288" rIns="18288" tIns="18288" bIns="18288" anchor="t">
            <a:spAutoFit/>
          </a:bodyPr>
          <a:lstStyle/>
          <a:p>
            <a:pPr algn="l">
              <a:lnSpc>
                <a:spcPct val="108000"/>
              </a:lnSpc>
            </a:pPr>
            <a:r>
              <a:rPr sz="2000" b="1" i="0">
                <a:solidFill>
                  <a:srgbClr val="14B8A6"/>
                </a:solidFill>
                <a:latin typeface="Arial"/>
              </a:rPr>
              <a:t>O4</a:t>
            </a:r>
          </a:p>
        </p:txBody>
      </p:sp>
      <p:sp>
        <p:nvSpPr>
          <p:cNvPr id="19" name="TextBox 18"/>
          <p:cNvSpPr txBox="1"/>
          <p:nvPr/>
        </p:nvSpPr>
        <p:spPr>
          <a:xfrm>
            <a:off x="7114031" y="3264408"/>
            <a:ext cx="4343400" cy="10058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Build LSTM and ConvLSTM forecasters plus a heatwave and flash-flood detection module.</a:t>
            </a:r>
          </a:p>
        </p:txBody>
      </p:sp>
      <p:sp>
        <p:nvSpPr>
          <p:cNvPr id="20" name="Rounded Rectangle 19"/>
          <p:cNvSpPr/>
          <p:nvPr/>
        </p:nvSpPr>
        <p:spPr>
          <a:xfrm>
            <a:off x="548640" y="4526280"/>
            <a:ext cx="5440680" cy="1207008"/>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636008"/>
            <a:ext cx="822960" cy="457200"/>
          </a:xfrm>
          <a:prstGeom prst="rect">
            <a:avLst/>
          </a:prstGeom>
          <a:noFill/>
        </p:spPr>
        <p:txBody>
          <a:bodyPr wrap="square" lIns="18288" rIns="18288" tIns="18288" bIns="18288" anchor="t">
            <a:spAutoFit/>
          </a:bodyPr>
          <a:lstStyle/>
          <a:p>
            <a:pPr algn="l">
              <a:lnSpc>
                <a:spcPct val="108000"/>
              </a:lnSpc>
            </a:pPr>
            <a:r>
              <a:rPr sz="2000" b="1" i="0">
                <a:solidFill>
                  <a:srgbClr val="3B82F6"/>
                </a:solidFill>
                <a:latin typeface="Arial"/>
              </a:rPr>
              <a:t>O5</a:t>
            </a:r>
          </a:p>
        </p:txBody>
      </p:sp>
      <p:sp>
        <p:nvSpPr>
          <p:cNvPr id="22" name="TextBox 21"/>
          <p:cNvSpPr txBox="1"/>
          <p:nvPr/>
        </p:nvSpPr>
        <p:spPr>
          <a:xfrm>
            <a:off x="1508760" y="4636008"/>
            <a:ext cx="4343400" cy="10058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Compare against SARIMA and XGBoost baselines, and available NWP outputs.</a:t>
            </a:r>
          </a:p>
        </p:txBody>
      </p:sp>
      <p:sp>
        <p:nvSpPr>
          <p:cNvPr id="23" name="Rounded Rectangle 22"/>
          <p:cNvSpPr/>
          <p:nvPr/>
        </p:nvSpPr>
        <p:spPr>
          <a:xfrm>
            <a:off x="6153912" y="4526280"/>
            <a:ext cx="5440680" cy="1207008"/>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6792" y="4636008"/>
            <a:ext cx="822960" cy="457200"/>
          </a:xfrm>
          <a:prstGeom prst="rect">
            <a:avLst/>
          </a:prstGeom>
          <a:noFill/>
        </p:spPr>
        <p:txBody>
          <a:bodyPr wrap="square" lIns="18288" rIns="18288" tIns="18288" bIns="18288" anchor="t">
            <a:spAutoFit/>
          </a:bodyPr>
          <a:lstStyle/>
          <a:p>
            <a:pPr algn="l">
              <a:lnSpc>
                <a:spcPct val="108000"/>
              </a:lnSpc>
            </a:pPr>
            <a:r>
              <a:rPr sz="2000" b="1" i="0">
                <a:solidFill>
                  <a:srgbClr val="3B82F6"/>
                </a:solidFill>
                <a:latin typeface="Arial"/>
              </a:rPr>
              <a:t>O6</a:t>
            </a:r>
          </a:p>
        </p:txBody>
      </p:sp>
      <p:sp>
        <p:nvSpPr>
          <p:cNvPr id="25" name="TextBox 24"/>
          <p:cNvSpPr txBox="1"/>
          <p:nvPr/>
        </p:nvSpPr>
        <p:spPr>
          <a:xfrm>
            <a:off x="7114031" y="4636008"/>
            <a:ext cx="4343400" cy="10058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Assess scalability, throughput and fault tolerance of the streaming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RESEARCH QUESTIONS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Four research questions — one answered by review and three by experiment</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10</a:t>
            </a:r>
          </a:p>
        </p:txBody>
      </p:sp>
      <p:sp>
        <p:nvSpPr>
          <p:cNvPr id="8" name="Rounded Rectangle 7"/>
          <p:cNvSpPr/>
          <p:nvPr/>
        </p:nvSpPr>
        <p:spPr>
          <a:xfrm>
            <a:off x="548640" y="1783080"/>
            <a:ext cx="11091672" cy="950976"/>
          </a:xfrm>
          <a:prstGeom prst="roundRect">
            <a:avLst>
              <a:gd name="adj" fmla="val 8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83080"/>
            <a:ext cx="1005840" cy="950976"/>
          </a:xfrm>
          <a:prstGeom prst="rect">
            <a:avLst/>
          </a:prstGeom>
          <a:noFill/>
        </p:spPr>
        <p:txBody>
          <a:bodyPr wrap="square" lIns="18288" rIns="18288" tIns="18288" bIns="18288" anchor="ctr">
            <a:spAutoFit/>
          </a:bodyPr>
          <a:lstStyle/>
          <a:p>
            <a:pPr algn="l">
              <a:lnSpc>
                <a:spcPct val="108000"/>
              </a:lnSpc>
            </a:pPr>
            <a:r>
              <a:rPr sz="2200" b="1" i="0">
                <a:solidFill>
                  <a:srgbClr val="A78BFA"/>
                </a:solidFill>
                <a:latin typeface="Arial"/>
              </a:rPr>
              <a:t>RQ1</a:t>
            </a:r>
          </a:p>
        </p:txBody>
      </p:sp>
      <p:sp>
        <p:nvSpPr>
          <p:cNvPr id="10" name="TextBox 9"/>
          <p:cNvSpPr txBox="1"/>
          <p:nvPr/>
        </p:nvSpPr>
        <p:spPr>
          <a:xfrm>
            <a:off x="1783080" y="1783080"/>
            <a:ext cx="7223760" cy="950976"/>
          </a:xfrm>
          <a:prstGeom prst="rect">
            <a:avLst/>
          </a:prstGeom>
          <a:noFill/>
        </p:spPr>
        <p:txBody>
          <a:bodyPr wrap="square" lIns="18288" rIns="18288" tIns="18288" bIns="18288" anchor="ctr">
            <a:spAutoFit/>
          </a:bodyPr>
          <a:lstStyle/>
          <a:p>
            <a:pPr algn="l">
              <a:lnSpc>
                <a:spcPct val="105000"/>
              </a:lnSpc>
            </a:pPr>
            <a:r>
              <a:rPr sz="1450" b="0" i="0">
                <a:solidFill>
                  <a:srgbClr val="E8EDF5"/>
                </a:solidFill>
                <a:latin typeface="Arial"/>
              </a:rPr>
              <a:t>State of the art in Big Data and ML for temperature and precipitation forecasting and heatwave and flash-flood detection, especially in South Asia?</a:t>
            </a:r>
          </a:p>
        </p:txBody>
      </p:sp>
      <p:sp>
        <p:nvSpPr>
          <p:cNvPr id="11" name="TextBox 10"/>
          <p:cNvSpPr txBox="1"/>
          <p:nvPr/>
        </p:nvSpPr>
        <p:spPr>
          <a:xfrm>
            <a:off x="9144000" y="1783080"/>
            <a:ext cx="2377440" cy="950976"/>
          </a:xfrm>
          <a:prstGeom prst="rect">
            <a:avLst/>
          </a:prstGeom>
          <a:noFill/>
        </p:spPr>
        <p:txBody>
          <a:bodyPr wrap="square" lIns="18288" rIns="18288" tIns="18288" bIns="18288" anchor="ctr">
            <a:spAutoFit/>
          </a:bodyPr>
          <a:lstStyle/>
          <a:p>
            <a:pPr algn="r">
              <a:lnSpc>
                <a:spcPct val="108000"/>
              </a:lnSpc>
            </a:pPr>
            <a:r>
              <a:rPr sz="1250" b="0" i="0">
                <a:solidFill>
                  <a:srgbClr val="9AA7B8"/>
                </a:solidFill>
                <a:latin typeface="Arial"/>
              </a:rPr>
              <a:t>Literature review · Ch. 2</a:t>
            </a:r>
          </a:p>
        </p:txBody>
      </p:sp>
      <p:sp>
        <p:nvSpPr>
          <p:cNvPr id="12" name="Rounded Rectangle 11"/>
          <p:cNvSpPr/>
          <p:nvPr/>
        </p:nvSpPr>
        <p:spPr>
          <a:xfrm>
            <a:off x="548640" y="2862072"/>
            <a:ext cx="11091672" cy="950976"/>
          </a:xfrm>
          <a:prstGeom prst="roundRect">
            <a:avLst>
              <a:gd name="adj" fmla="val 8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62072"/>
            <a:ext cx="1005840" cy="950976"/>
          </a:xfrm>
          <a:prstGeom prst="rect">
            <a:avLst/>
          </a:prstGeom>
          <a:noFill/>
        </p:spPr>
        <p:txBody>
          <a:bodyPr wrap="square" lIns="18288" rIns="18288" tIns="18288" bIns="18288" anchor="ctr">
            <a:spAutoFit/>
          </a:bodyPr>
          <a:lstStyle/>
          <a:p>
            <a:pPr algn="l">
              <a:lnSpc>
                <a:spcPct val="108000"/>
              </a:lnSpc>
            </a:pPr>
            <a:r>
              <a:rPr sz="2200" b="1" i="0">
                <a:solidFill>
                  <a:srgbClr val="14B8A6"/>
                </a:solidFill>
                <a:latin typeface="Arial"/>
              </a:rPr>
              <a:t>RQ2</a:t>
            </a:r>
          </a:p>
        </p:txBody>
      </p:sp>
      <p:sp>
        <p:nvSpPr>
          <p:cNvPr id="14" name="TextBox 13"/>
          <p:cNvSpPr txBox="1"/>
          <p:nvPr/>
        </p:nvSpPr>
        <p:spPr>
          <a:xfrm>
            <a:off x="1783080" y="2862072"/>
            <a:ext cx="7223760" cy="950976"/>
          </a:xfrm>
          <a:prstGeom prst="rect">
            <a:avLst/>
          </a:prstGeom>
          <a:noFill/>
        </p:spPr>
        <p:txBody>
          <a:bodyPr wrap="square" lIns="18288" rIns="18288" tIns="18288" bIns="18288" anchor="ctr">
            <a:spAutoFit/>
          </a:bodyPr>
          <a:lstStyle/>
          <a:p>
            <a:pPr algn="l">
              <a:lnSpc>
                <a:spcPct val="105000"/>
              </a:lnSpc>
            </a:pPr>
            <a:r>
              <a:rPr sz="1450" b="0" i="0">
                <a:solidFill>
                  <a:srgbClr val="E8EDF5"/>
                </a:solidFill>
                <a:latin typeface="Arial"/>
              </a:rPr>
              <a:t>Do LSTM and ConvLSTM significantly beat SARIMA and XGBoost on RMSE, MAE and NSE — and how do they compare with NWP — for Pakistan?</a:t>
            </a:r>
          </a:p>
        </p:txBody>
      </p:sp>
      <p:sp>
        <p:nvSpPr>
          <p:cNvPr id="15" name="TextBox 14"/>
          <p:cNvSpPr txBox="1"/>
          <p:nvPr/>
        </p:nvSpPr>
        <p:spPr>
          <a:xfrm>
            <a:off x="9144000" y="2862072"/>
            <a:ext cx="2377440" cy="950976"/>
          </a:xfrm>
          <a:prstGeom prst="rect">
            <a:avLst/>
          </a:prstGeom>
          <a:noFill/>
        </p:spPr>
        <p:txBody>
          <a:bodyPr wrap="square" lIns="18288" rIns="18288" tIns="18288" bIns="18288" anchor="ctr">
            <a:spAutoFit/>
          </a:bodyPr>
          <a:lstStyle/>
          <a:p>
            <a:pPr algn="r">
              <a:lnSpc>
                <a:spcPct val="108000"/>
              </a:lnSpc>
            </a:pPr>
            <a:r>
              <a:rPr sz="1250" b="0" i="0">
                <a:solidFill>
                  <a:srgbClr val="9AA7B8"/>
                </a:solidFill>
                <a:latin typeface="Arial"/>
              </a:rPr>
              <a:t>Experiments · Ch. 5</a:t>
            </a:r>
          </a:p>
        </p:txBody>
      </p:sp>
      <p:sp>
        <p:nvSpPr>
          <p:cNvPr id="16" name="Rounded Rectangle 15"/>
          <p:cNvSpPr/>
          <p:nvPr/>
        </p:nvSpPr>
        <p:spPr>
          <a:xfrm>
            <a:off x="548640" y="3941063"/>
            <a:ext cx="11091672" cy="950976"/>
          </a:xfrm>
          <a:prstGeom prst="roundRect">
            <a:avLst>
              <a:gd name="adj" fmla="val 8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41063"/>
            <a:ext cx="1005840" cy="950976"/>
          </a:xfrm>
          <a:prstGeom prst="rect">
            <a:avLst/>
          </a:prstGeom>
          <a:noFill/>
        </p:spPr>
        <p:txBody>
          <a:bodyPr wrap="square" lIns="18288" rIns="18288" tIns="18288" bIns="18288" anchor="ctr">
            <a:spAutoFit/>
          </a:bodyPr>
          <a:lstStyle/>
          <a:p>
            <a:pPr algn="l">
              <a:lnSpc>
                <a:spcPct val="108000"/>
              </a:lnSpc>
            </a:pPr>
            <a:r>
              <a:rPr sz="2200" b="1" i="0">
                <a:solidFill>
                  <a:srgbClr val="F5A524"/>
                </a:solidFill>
                <a:latin typeface="Arial"/>
              </a:rPr>
              <a:t>RQ3</a:t>
            </a:r>
          </a:p>
        </p:txBody>
      </p:sp>
      <p:sp>
        <p:nvSpPr>
          <p:cNvPr id="18" name="TextBox 17"/>
          <p:cNvSpPr txBox="1"/>
          <p:nvPr/>
        </p:nvSpPr>
        <p:spPr>
          <a:xfrm>
            <a:off x="1783080" y="3941063"/>
            <a:ext cx="7223760" cy="950976"/>
          </a:xfrm>
          <a:prstGeom prst="rect">
            <a:avLst/>
          </a:prstGeom>
          <a:noFill/>
        </p:spPr>
        <p:txBody>
          <a:bodyPr wrap="square" lIns="18288" rIns="18288" tIns="18288" bIns="18288" anchor="ctr">
            <a:spAutoFit/>
          </a:bodyPr>
          <a:lstStyle/>
          <a:p>
            <a:pPr algn="l">
              <a:lnSpc>
                <a:spcPct val="105000"/>
              </a:lnSpc>
            </a:pPr>
            <a:r>
              <a:rPr sz="1450" b="0" i="0">
                <a:solidFill>
                  <a:srgbClr val="E8EDF5"/>
                </a:solidFill>
                <a:latin typeface="Arial"/>
              </a:rPr>
              <a:t>Can a Spark- and Kafka-based streaming prototype deliver near-real-time detection (latency, throughput, F1, CSI, false alarms)?</a:t>
            </a:r>
          </a:p>
        </p:txBody>
      </p:sp>
      <p:sp>
        <p:nvSpPr>
          <p:cNvPr id="19" name="TextBox 18"/>
          <p:cNvSpPr txBox="1"/>
          <p:nvPr/>
        </p:nvSpPr>
        <p:spPr>
          <a:xfrm>
            <a:off x="9144000" y="3941063"/>
            <a:ext cx="2377440" cy="950976"/>
          </a:xfrm>
          <a:prstGeom prst="rect">
            <a:avLst/>
          </a:prstGeom>
          <a:noFill/>
        </p:spPr>
        <p:txBody>
          <a:bodyPr wrap="square" lIns="18288" rIns="18288" tIns="18288" bIns="18288" anchor="ctr">
            <a:spAutoFit/>
          </a:bodyPr>
          <a:lstStyle/>
          <a:p>
            <a:pPr algn="r">
              <a:lnSpc>
                <a:spcPct val="108000"/>
              </a:lnSpc>
            </a:pPr>
            <a:r>
              <a:rPr sz="1250" b="0" i="0">
                <a:solidFill>
                  <a:srgbClr val="9AA7B8"/>
                </a:solidFill>
                <a:latin typeface="Arial"/>
              </a:rPr>
              <a:t>Experiments · Ch. 5</a:t>
            </a:r>
          </a:p>
        </p:txBody>
      </p:sp>
      <p:sp>
        <p:nvSpPr>
          <p:cNvPr id="20" name="Rounded Rectangle 19"/>
          <p:cNvSpPr/>
          <p:nvPr/>
        </p:nvSpPr>
        <p:spPr>
          <a:xfrm>
            <a:off x="548640" y="5020056"/>
            <a:ext cx="11091672" cy="950976"/>
          </a:xfrm>
          <a:prstGeom prst="roundRect">
            <a:avLst>
              <a:gd name="adj" fmla="val 8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020056"/>
            <a:ext cx="1005840" cy="950976"/>
          </a:xfrm>
          <a:prstGeom prst="rect">
            <a:avLst/>
          </a:prstGeom>
          <a:noFill/>
        </p:spPr>
        <p:txBody>
          <a:bodyPr wrap="square" lIns="18288" rIns="18288" tIns="18288" bIns="18288" anchor="ctr">
            <a:spAutoFit/>
          </a:bodyPr>
          <a:lstStyle/>
          <a:p>
            <a:pPr algn="l">
              <a:lnSpc>
                <a:spcPct val="108000"/>
              </a:lnSpc>
            </a:pPr>
            <a:r>
              <a:rPr sz="2200" b="1" i="0">
                <a:solidFill>
                  <a:srgbClr val="3B82F6"/>
                </a:solidFill>
                <a:latin typeface="Arial"/>
              </a:rPr>
              <a:t>RQ4</a:t>
            </a:r>
          </a:p>
        </p:txBody>
      </p:sp>
      <p:sp>
        <p:nvSpPr>
          <p:cNvPr id="22" name="TextBox 21"/>
          <p:cNvSpPr txBox="1"/>
          <p:nvPr/>
        </p:nvSpPr>
        <p:spPr>
          <a:xfrm>
            <a:off x="1783080" y="5020056"/>
            <a:ext cx="7223760" cy="950976"/>
          </a:xfrm>
          <a:prstGeom prst="rect">
            <a:avLst/>
          </a:prstGeom>
          <a:noFill/>
        </p:spPr>
        <p:txBody>
          <a:bodyPr wrap="square" lIns="18288" rIns="18288" tIns="18288" bIns="18288" anchor="ctr">
            <a:spAutoFit/>
          </a:bodyPr>
          <a:lstStyle/>
          <a:p>
            <a:pPr algn="l">
              <a:lnSpc>
                <a:spcPct val="105000"/>
              </a:lnSpc>
            </a:pPr>
            <a:r>
              <a:rPr sz="1450" b="0" i="0">
                <a:solidFill>
                  <a:srgbClr val="E8EDF5"/>
                </a:solidFill>
                <a:latin typeface="Arial"/>
              </a:rPr>
              <a:t>How do scalability, throughput and fault tolerance vary with data volume and node configuration?</a:t>
            </a:r>
          </a:p>
        </p:txBody>
      </p:sp>
      <p:sp>
        <p:nvSpPr>
          <p:cNvPr id="23" name="TextBox 22"/>
          <p:cNvSpPr txBox="1"/>
          <p:nvPr/>
        </p:nvSpPr>
        <p:spPr>
          <a:xfrm>
            <a:off x="9144000" y="5020056"/>
            <a:ext cx="2377440" cy="950976"/>
          </a:xfrm>
          <a:prstGeom prst="rect">
            <a:avLst/>
          </a:prstGeom>
          <a:noFill/>
        </p:spPr>
        <p:txBody>
          <a:bodyPr wrap="square" lIns="18288" rIns="18288" tIns="18288" bIns="18288" anchor="ctr">
            <a:spAutoFit/>
          </a:bodyPr>
          <a:lstStyle/>
          <a:p>
            <a:pPr algn="r">
              <a:lnSpc>
                <a:spcPct val="108000"/>
              </a:lnSpc>
            </a:pPr>
            <a:r>
              <a:rPr sz="1250" b="0" i="0">
                <a:solidFill>
                  <a:srgbClr val="9AA7B8"/>
                </a:solidFill>
                <a:latin typeface="Arial"/>
              </a:rPr>
              <a:t>Experiments · Ch.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LITERATURE REVIEW · 99 STUDIES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The review of 99 studies maps six gaps to the thesis design</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11</a:t>
            </a:r>
          </a:p>
        </p:txBody>
      </p:sp>
      <p:graphicFrame>
        <p:nvGraphicFramePr>
          <p:cNvPr id="8" name="Table 7"/>
          <p:cNvGraphicFramePr>
            <a:graphicFrameLocks noGrp="1"/>
          </p:cNvGraphicFramePr>
          <p:nvPr/>
        </p:nvGraphicFramePr>
        <p:xfrm>
          <a:off x="548640" y="1783080"/>
          <a:ext cx="11091672" cy="3931914"/>
        </p:xfrm>
        <a:graphic>
          <a:graphicData uri="http://schemas.openxmlformats.org/drawingml/2006/table">
            <a:tbl>
              <a:tblPr firstRow="1" bandRow="1">
                <a:tableStyleId>{5940675A-B579-460E-94D1-54222C63F5DA}</a:tableStyleId>
              </a:tblPr>
              <a:tblGrid>
                <a:gridCol w="822960"/>
                <a:gridCol w="5486400"/>
                <a:gridCol w="4782312"/>
              </a:tblGrid>
              <a:tr h="561702">
                <a:tc>
                  <a:txBody>
                    <a:bodyPr wrap="square"/>
                    <a:lstStyle/>
                    <a:p>
                      <a:r>
                        <a:rPr sz="1400" b="1">
                          <a:solidFill>
                            <a:srgbClr val="F5A524"/>
                          </a:solidFill>
                          <a:latin typeface="Arial"/>
                        </a:rPr>
                        <a:t>Gap</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What the literature lacks</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How the thesis responds</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400" b="1">
                          <a:solidFill>
                            <a:srgbClr val="E8EDF5"/>
                          </a:solidFill>
                          <a:latin typeface="Arial"/>
                        </a:rPr>
                        <a:t>G1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Streaming Big Data pipeline coupled to a trained hazard detector</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Kafka → Spark stream feeds the detectors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400" b="1">
                          <a:solidFill>
                            <a:srgbClr val="E8EDF5"/>
                          </a:solidFill>
                          <a:latin typeface="Arial"/>
                        </a:rPr>
                        <a:t>G2</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Latency and throughput reported with accuracy</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Latency, throughput reported next to CSI/RMSE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400" b="1">
                          <a:solidFill>
                            <a:srgbClr val="E8EDF5"/>
                          </a:solidFill>
                          <a:latin typeface="Arial"/>
                        </a:rPr>
                        <a:t>G3</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Training or validation on PMD station data</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PMD adapter built; no data obtained (limitation)</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400" b="1">
                          <a:solidFill>
                            <a:srgbClr val="E8EDF5"/>
                          </a:solidFill>
                          <a:latin typeface="Arial"/>
                        </a:rPr>
                        <a:t>G4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Heatwave and flash flood in one pipeline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Shared pipeline, separate detectors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400" b="1">
                          <a:solidFill>
                            <a:srgbClr val="E8EDF5"/>
                          </a:solidFill>
                          <a:latin typeface="Arial"/>
                        </a:rPr>
                        <a:t>G5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Global data-driven models benchmarked for Pakistan</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Out of scope → future work</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400" b="1">
                          <a:solidFill>
                            <a:srgbClr val="E8EDF5"/>
                          </a:solidFill>
                          <a:latin typeface="Arial"/>
                        </a:rPr>
                        <a:t>G6</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Consistent explainability</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SHAP feature groups for detectors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TextBox 8"/>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2, Table 'Research Gaps and Their Mapping to Thesis Objectives and Research Questions'; 87 original + 12 update-search studies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14B8A6"/>
                </a:solidFill>
                <a:latin typeface="Arial"/>
              </a:rPr>
              <a:t>03</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Data and methods</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ERA5 reanalysis for 20 cities, leakage-safe labels, strong baselines and paired significance tests.</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DATA</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Thesis results use ERA5 for 20 cities from 2015 to 2022</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13</a:t>
            </a:r>
          </a:p>
        </p:txBody>
      </p:sp>
      <p:pic>
        <p:nvPicPr>
          <p:cNvPr id="8" name="Picture 7" descr="city_map.png"/>
          <p:cNvPicPr>
            <a:picLocks noChangeAspect="1"/>
          </p:cNvPicPr>
          <p:nvPr/>
        </p:nvPicPr>
        <p:blipFill>
          <a:blip r:embed="rId2"/>
          <a:stretch>
            <a:fillRect/>
          </a:stretch>
        </p:blipFill>
        <p:spPr>
          <a:xfrm>
            <a:off x="548640" y="1645920"/>
            <a:ext cx="4434840" cy="4434840"/>
          </a:xfrm>
          <a:prstGeom prst="rect">
            <a:avLst/>
          </a:prstGeom>
        </p:spPr>
      </p:pic>
      <p:sp>
        <p:nvSpPr>
          <p:cNvPr id="9" name="TextBox 8"/>
          <p:cNvSpPr txBox="1"/>
          <p:nvPr/>
        </p:nvSpPr>
        <p:spPr>
          <a:xfrm>
            <a:off x="5257800" y="1783080"/>
            <a:ext cx="6400800" cy="4297680"/>
          </a:xfrm>
          <a:prstGeom prst="rect">
            <a:avLst/>
          </a:prstGeom>
          <a:noFill/>
        </p:spPr>
        <p:txBody>
          <a:bodyPr wrap="square" lIns="18288" rIns="18288" tIns="18288" bIns="18288">
            <a:spAutoFit/>
          </a:bodyPr>
          <a:lstStyle/>
          <a:p>
            <a:pPr>
              <a:lnSpc>
                <a:spcPct val="105000"/>
              </a:lnSpc>
              <a:spcAft>
                <a:spcPts val="900"/>
              </a:spcAft>
            </a:pPr>
            <a:r>
              <a:rPr sz="1100">
                <a:solidFill>
                  <a:srgbClr val="14B8A6"/>
                </a:solidFill>
                <a:latin typeface="Arial"/>
              </a:rPr>
              <a:t>■  </a:t>
            </a:r>
            <a:r>
              <a:rPr sz="1500" b="1">
                <a:solidFill>
                  <a:srgbClr val="E8EDF5"/>
                </a:solidFill>
                <a:latin typeface="Arial"/>
              </a:rPr>
              <a:t>ERA5 reanalysis</a:t>
            </a:r>
            <a:r>
              <a:rPr sz="1500" b="0">
                <a:solidFill>
                  <a:srgbClr val="E8EDF5"/>
                </a:solidFill>
                <a:latin typeface="Arial"/>
              </a:rPr>
              <a:t> via the Open-Meteo archive (models = era5)</a:t>
            </a:r>
          </a:p>
          <a:p>
            <a:pPr>
              <a:lnSpc>
                <a:spcPct val="105000"/>
              </a:lnSpc>
              <a:spcAft>
                <a:spcPts val="900"/>
              </a:spcAft>
            </a:pPr>
            <a:r>
              <a:rPr sz="1100">
                <a:solidFill>
                  <a:srgbClr val="14B8A6"/>
                </a:solidFill>
                <a:latin typeface="Arial"/>
              </a:rPr>
              <a:t>■  </a:t>
            </a:r>
            <a:r>
              <a:rPr sz="1500" b="1">
                <a:solidFill>
                  <a:srgbClr val="E8EDF5"/>
                </a:solidFill>
                <a:latin typeface="Arial"/>
              </a:rPr>
              <a:t>20 cities</a:t>
            </a:r>
            <a:r>
              <a:rPr sz="1500" b="0">
                <a:solidFill>
                  <a:srgbClr val="E8EDF5"/>
                </a:solidFill>
                <a:latin typeface="Arial"/>
              </a:rPr>
              <a:t>, nearest 0.25° cell, hourly 2015–2022: 1.40 M rows</a:t>
            </a:r>
          </a:p>
          <a:p>
            <a:pPr>
              <a:lnSpc>
                <a:spcPct val="105000"/>
              </a:lnSpc>
              <a:spcAft>
                <a:spcPts val="900"/>
              </a:spcAft>
            </a:pPr>
            <a:r>
              <a:rPr sz="1100">
                <a:solidFill>
                  <a:srgbClr val="14B8A6"/>
                </a:solidFill>
                <a:latin typeface="Arial"/>
              </a:rPr>
              <a:t>■  </a:t>
            </a:r>
            <a:r>
              <a:rPr sz="1500" b="1">
                <a:solidFill>
                  <a:srgbClr val="E8EDF5"/>
                </a:solidFill>
                <a:latin typeface="Arial"/>
              </a:rPr>
              <a:t>2° regional lattice</a:t>
            </a:r>
            <a:r>
              <a:rPr sz="1500" b="0">
                <a:solidFill>
                  <a:srgbClr val="E8EDF5"/>
                </a:solidFill>
                <a:latin typeface="Arial"/>
              </a:rPr>
              <a:t> (7 × 8 cells) for the ConvLSTM</a:t>
            </a:r>
          </a:p>
          <a:p>
            <a:pPr>
              <a:lnSpc>
                <a:spcPct val="105000"/>
              </a:lnSpc>
              <a:spcAft>
                <a:spcPts val="900"/>
              </a:spcAft>
            </a:pPr>
            <a:r>
              <a:rPr sz="1100">
                <a:solidFill>
                  <a:srgbClr val="14B8A6"/>
                </a:solidFill>
                <a:latin typeface="Arial"/>
              </a:rPr>
              <a:t>■  </a:t>
            </a:r>
            <a:r>
              <a:rPr sz="1500" b="1">
                <a:solidFill>
                  <a:srgbClr val="E8EDF5"/>
                </a:solidFill>
                <a:latin typeface="Arial"/>
              </a:rPr>
              <a:t>Split: </a:t>
            </a:r>
            <a:r>
              <a:rPr sz="1500" b="0">
                <a:solidFill>
                  <a:srgbClr val="E8EDF5"/>
                </a:solidFill>
                <a:latin typeface="Arial"/>
              </a:rPr>
              <a:t>train 2015–2020 · validation 2021 · test 2022 (held out)</a:t>
            </a:r>
          </a:p>
          <a:p>
            <a:pPr>
              <a:lnSpc>
                <a:spcPct val="105000"/>
              </a:lnSpc>
              <a:spcAft>
                <a:spcPts val="900"/>
              </a:spcAft>
            </a:pPr>
            <a:r>
              <a:rPr sz="1100">
                <a:solidFill>
                  <a:srgbClr val="14B8A6"/>
                </a:solidFill>
                <a:latin typeface="Arial"/>
              </a:rPr>
              <a:t>■  </a:t>
            </a:r>
            <a:r>
              <a:rPr sz="1500" b="1">
                <a:solidFill>
                  <a:srgbClr val="F5A524"/>
                </a:solidFill>
                <a:latin typeface="Arial"/>
              </a:rPr>
              <a:t>Extension to 1990–2026 in progress: </a:t>
            </a:r>
            <a:r>
              <a:rPr sz="1500" b="0">
                <a:solidFill>
                  <a:srgbClr val="E8EDF5"/>
                </a:solidFill>
                <a:latin typeface="Arial"/>
              </a:rPr>
              <a:t>1990–1999 + 2015–2022 already in HDFS (3.11 M rows); not used for thesis numbers</a:t>
            </a:r>
          </a:p>
          <a:p>
            <a:pPr>
              <a:lnSpc>
                <a:spcPct val="105000"/>
              </a:lnSpc>
              <a:spcAft>
                <a:spcPts val="900"/>
              </a:spcAft>
            </a:pPr>
            <a:r>
              <a:rPr sz="1100">
                <a:solidFill>
                  <a:srgbClr val="14B8A6"/>
                </a:solidFill>
                <a:latin typeface="Arial"/>
              </a:rPr>
              <a:t>■  </a:t>
            </a:r>
            <a:r>
              <a:rPr sz="1500" b="1">
                <a:solidFill>
                  <a:srgbClr val="E5484D"/>
                </a:solidFill>
                <a:latin typeface="Arial"/>
              </a:rPr>
              <a:t>PMD stations: </a:t>
            </a:r>
            <a:r>
              <a:rPr sz="1500" b="0">
                <a:solidFill>
                  <a:srgbClr val="E8EDF5"/>
                </a:solidFill>
                <a:latin typeface="Arial"/>
              </a:rPr>
              <a:t>adapter implemented, no data obtained</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DEVIATIONS.md D4–D5, D8; results/bigdata/hdfs_load.json; thesis Appendix C (study cities)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HAZARD DEFINITIONS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Labels are percentile-based and fitted on training years only</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14</a:t>
            </a:r>
          </a:p>
        </p:txBody>
      </p:sp>
      <p:graphicFrame>
        <p:nvGraphicFramePr>
          <p:cNvPr id="8" name="Table 7"/>
          <p:cNvGraphicFramePr>
            <a:graphicFrameLocks noGrp="1"/>
          </p:cNvGraphicFramePr>
          <p:nvPr/>
        </p:nvGraphicFramePr>
        <p:xfrm>
          <a:off x="548640" y="1783080"/>
          <a:ext cx="11091672" cy="3291840"/>
        </p:xfrm>
        <a:graphic>
          <a:graphicData uri="http://schemas.openxmlformats.org/drawingml/2006/table">
            <a:tbl>
              <a:tblPr firstRow="1" bandRow="1">
                <a:tableStyleId>{5940675A-B579-460E-94D1-54222C63F5DA}</a:tableStyleId>
              </a:tblPr>
              <a:tblGrid>
                <a:gridCol w="2103120"/>
                <a:gridCol w="4937760"/>
                <a:gridCol w="2377440"/>
                <a:gridCol w="1673352"/>
              </a:tblGrid>
              <a:tr h="658368">
                <a:tc>
                  <a:txBody>
                    <a:bodyPr wrap="square"/>
                    <a:lstStyle/>
                    <a:p>
                      <a:r>
                        <a:rPr sz="1300" b="1">
                          <a:solidFill>
                            <a:srgbClr val="F5A524"/>
                          </a:solidFill>
                          <a:latin typeface="Arial"/>
                        </a:rPr>
                        <a:t>Label</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Definition</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Positives (train / val / test)</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Used for</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658368">
                <a:tc>
                  <a:txBody>
                    <a:bodyPr wrap="square"/>
                    <a:lstStyle/>
                    <a:p>
                      <a:r>
                        <a:rPr sz="1300" b="1">
                          <a:solidFill>
                            <a:srgbClr val="E8EDF5"/>
                          </a:solidFill>
                          <a:latin typeface="Arial"/>
                        </a:rPr>
                        <a:t>Heatwave (relative)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Daily Tmax &gt; local calendar-day p95 (±7-day window) on ≥3 consecutive days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593 / 261 / 551 city-days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Detection target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658368">
                <a:tc>
                  <a:txBody>
                    <a:bodyPr wrap="square"/>
                    <a:lstStyle/>
                    <a:p>
                      <a:r>
                        <a:rPr sz="1300" b="1">
                          <a:solidFill>
                            <a:srgbClr val="E8EDF5"/>
                          </a:solidFill>
                          <a:latin typeface="Arial"/>
                        </a:rPr>
                        <a:t>Heatwave (absolute)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Daily Tmax ≥ 40 °C on ≥3 consecutive days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4,596 / 620 / 870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Reported</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658368">
                <a:tc>
                  <a:txBody>
                    <a:bodyPr wrap="square"/>
                    <a:lstStyle/>
                    <a:p>
                      <a:r>
                        <a:rPr sz="1300" b="1">
                          <a:solidFill>
                            <a:srgbClr val="E8EDF5"/>
                          </a:solidFill>
                          <a:latin typeface="Arial"/>
                        </a:rPr>
                        <a:t>Flash-flood proxy A</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6-h rain ≥ max(50 mm, local p99) and antecedent precipitation index &gt; p75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17 / 1 / 2 windows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Too rare: descriptive only</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658368">
                <a:tc>
                  <a:txBody>
                    <a:bodyPr wrap="square"/>
                    <a:lstStyle/>
                    <a:p>
                      <a:r>
                        <a:rPr sz="1300" b="1">
                          <a:solidFill>
                            <a:srgbClr val="E8EDF5"/>
                          </a:solidFill>
                          <a:latin typeface="Arial"/>
                        </a:rPr>
                        <a:t>Flash-flood proxy B</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Trailing 24-h rain ≥ local p99.5 of daily totals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929 / 79 / 405 windows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Detection target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Rounded Rectangle 8"/>
          <p:cNvSpPr/>
          <p:nvPr/>
        </p:nvSpPr>
        <p:spPr>
          <a:xfrm>
            <a:off x="548640" y="5257800"/>
            <a:ext cx="11091672" cy="731520"/>
          </a:xfrm>
          <a:prstGeom prst="roundRect">
            <a:avLst>
              <a:gd name="adj" fmla="val 10000"/>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257800"/>
            <a:ext cx="10698480" cy="731520"/>
          </a:xfrm>
          <a:prstGeom prst="rect">
            <a:avLst/>
          </a:prstGeom>
          <a:noFill/>
        </p:spPr>
        <p:txBody>
          <a:bodyPr wrap="square" lIns="18288" rIns="18288" tIns="18288" bIns="18288" anchor="ctr">
            <a:spAutoFit/>
          </a:bodyPr>
          <a:lstStyle/>
          <a:p>
            <a:pPr algn="l">
              <a:lnSpc>
                <a:spcPct val="108000"/>
              </a:lnSpc>
            </a:pPr>
            <a:r>
              <a:rPr sz="1500" b="1" i="0">
                <a:solidFill>
                  <a:srgbClr val="F5A524"/>
                </a:solidFill>
                <a:latin typeface="Arial"/>
              </a:rPr>
              <a:t>Flood labels are rainfall-extreme proxies, </a:t>
            </a:r>
            <a:r>
              <a:rPr sz="1500" b="0" i="0">
                <a:solidFill>
                  <a:srgbClr val="E8EDF5"/>
                </a:solidFill>
                <a:latin typeface="Arial"/>
              </a:rPr>
              <a:t>not observed floods — ERA5 does not observe floods.</a:t>
            </a:r>
          </a:p>
        </p:txBody>
      </p:sp>
      <p:sp>
        <p:nvSpPr>
          <p:cNvPr id="11" name="TextBox 10"/>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3 hazard-definition table; results/bigdata/spark_etl_parity_2015_2022.json (label prevalence); DEVIATIONS.md D1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MODELS AND EVALUATION</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Every model faces persistence and climatology on identical test samples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15</a:t>
            </a:r>
          </a:p>
        </p:txBody>
      </p:sp>
      <p:sp>
        <p:nvSpPr>
          <p:cNvPr id="8" name="Rounded Rectangle 7"/>
          <p:cNvSpPr/>
          <p:nvPr/>
        </p:nvSpPr>
        <p:spPr>
          <a:xfrm>
            <a:off x="548640" y="1783080"/>
            <a:ext cx="3566160" cy="3749039"/>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783080"/>
            <a:ext cx="3566160" cy="5486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47672"/>
            <a:ext cx="3200400" cy="411480"/>
          </a:xfrm>
          <a:prstGeom prst="rect">
            <a:avLst/>
          </a:prstGeom>
          <a:noFill/>
        </p:spPr>
        <p:txBody>
          <a:bodyPr wrap="square" lIns="18288" rIns="18288" tIns="18288" bIns="18288" anchor="t">
            <a:spAutoFit/>
          </a:bodyPr>
          <a:lstStyle/>
          <a:p>
            <a:pPr algn="l">
              <a:lnSpc>
                <a:spcPct val="108000"/>
              </a:lnSpc>
            </a:pPr>
            <a:r>
              <a:rPr sz="1500" b="1" i="0">
                <a:solidFill>
                  <a:srgbClr val="F5A524"/>
                </a:solidFill>
                <a:latin typeface="Arial"/>
              </a:rPr>
              <a:t>Baselines</a:t>
            </a:r>
          </a:p>
        </p:txBody>
      </p:sp>
      <p:sp>
        <p:nvSpPr>
          <p:cNvPr id="11" name="TextBox 10"/>
          <p:cNvSpPr txBox="1"/>
          <p:nvPr/>
        </p:nvSpPr>
        <p:spPr>
          <a:xfrm>
            <a:off x="731520" y="2377440"/>
            <a:ext cx="3200400" cy="3063239"/>
          </a:xfrm>
          <a:prstGeom prst="rect">
            <a:avLst/>
          </a:prstGeom>
          <a:noFill/>
        </p:spPr>
        <p:txBody>
          <a:bodyPr wrap="square" lIns="18288" rIns="18288" tIns="18288" bIns="18288">
            <a:spAutoFit/>
          </a:bodyPr>
          <a:lstStyle/>
          <a:p>
            <a:pPr>
              <a:lnSpc>
                <a:spcPct val="105000"/>
              </a:lnSpc>
              <a:spcAft>
                <a:spcPts val="500"/>
              </a:spcAft>
            </a:pPr>
            <a:r>
              <a:rPr sz="1000">
                <a:solidFill>
                  <a:srgbClr val="F5A524"/>
                </a:solidFill>
                <a:latin typeface="Arial"/>
              </a:rPr>
              <a:t>■  </a:t>
            </a:r>
            <a:r>
              <a:rPr sz="1400" b="0">
                <a:solidFill>
                  <a:srgbClr val="E8EDF5"/>
                </a:solidFill>
                <a:latin typeface="Arial"/>
              </a:rPr>
              <a:t>Persistence (incl. diurnal)</a:t>
            </a:r>
          </a:p>
          <a:p>
            <a:pPr>
              <a:lnSpc>
                <a:spcPct val="105000"/>
              </a:lnSpc>
              <a:spcAft>
                <a:spcPts val="500"/>
              </a:spcAft>
            </a:pPr>
            <a:r>
              <a:rPr sz="1000">
                <a:solidFill>
                  <a:srgbClr val="F5A524"/>
                </a:solidFill>
                <a:latin typeface="Arial"/>
              </a:rPr>
              <a:t>■  </a:t>
            </a:r>
            <a:r>
              <a:rPr sz="1400" b="0">
                <a:solidFill>
                  <a:srgbClr val="E8EDF5"/>
                </a:solidFill>
                <a:latin typeface="Arial"/>
              </a:rPr>
              <a:t>Climatology (train-only)</a:t>
            </a:r>
          </a:p>
          <a:p>
            <a:pPr>
              <a:lnSpc>
                <a:spcPct val="105000"/>
              </a:lnSpc>
              <a:spcAft>
                <a:spcPts val="500"/>
              </a:spcAft>
            </a:pPr>
            <a:r>
              <a:rPr sz="1000">
                <a:solidFill>
                  <a:srgbClr val="F5A524"/>
                </a:solidFill>
                <a:latin typeface="Arial"/>
              </a:rPr>
              <a:t>■  </a:t>
            </a:r>
            <a:r>
              <a:rPr sz="1400" b="0">
                <a:solidFill>
                  <a:srgbClr val="E8EDF5"/>
                </a:solidFill>
                <a:latin typeface="Arial"/>
              </a:rPr>
              <a:t>SARIMA</a:t>
            </a:r>
          </a:p>
          <a:p>
            <a:pPr>
              <a:lnSpc>
                <a:spcPct val="105000"/>
              </a:lnSpc>
              <a:spcAft>
                <a:spcPts val="500"/>
              </a:spcAft>
            </a:pPr>
            <a:r>
              <a:rPr sz="1000">
                <a:solidFill>
                  <a:srgbClr val="F5A524"/>
                </a:solidFill>
                <a:latin typeface="Arial"/>
              </a:rPr>
              <a:t>■  </a:t>
            </a:r>
            <a:r>
              <a:rPr sz="1400" b="0">
                <a:solidFill>
                  <a:srgbClr val="E8EDF5"/>
                </a:solidFill>
                <a:latin typeface="Arial"/>
              </a:rPr>
              <a:t>XGBoost (default hyper-parameters)</a:t>
            </a:r>
          </a:p>
          <a:p>
            <a:pPr>
              <a:lnSpc>
                <a:spcPct val="105000"/>
              </a:lnSpc>
              <a:spcAft>
                <a:spcPts val="500"/>
              </a:spcAft>
            </a:pPr>
            <a:r>
              <a:rPr sz="1000">
                <a:solidFill>
                  <a:srgbClr val="F5A524"/>
                </a:solidFill>
                <a:latin typeface="Arial"/>
              </a:rPr>
              <a:t>■  </a:t>
            </a:r>
            <a:r>
              <a:rPr sz="1400" b="0">
                <a:solidFill>
                  <a:srgbClr val="E8EDF5"/>
                </a:solidFill>
                <a:latin typeface="Arial"/>
              </a:rPr>
              <a:t>Rule-based persistence detector</a:t>
            </a:r>
          </a:p>
        </p:txBody>
      </p:sp>
      <p:sp>
        <p:nvSpPr>
          <p:cNvPr id="12" name="Rounded Rectangle 11"/>
          <p:cNvSpPr/>
          <p:nvPr/>
        </p:nvSpPr>
        <p:spPr>
          <a:xfrm>
            <a:off x="4315968" y="1783080"/>
            <a:ext cx="3566160" cy="3749039"/>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783080"/>
            <a:ext cx="356616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47672"/>
            <a:ext cx="3200400" cy="411480"/>
          </a:xfrm>
          <a:prstGeom prst="rect">
            <a:avLst/>
          </a:prstGeom>
          <a:noFill/>
        </p:spPr>
        <p:txBody>
          <a:bodyPr wrap="square" lIns="18288" rIns="18288" tIns="18288" bIns="18288" anchor="t">
            <a:spAutoFit/>
          </a:bodyPr>
          <a:lstStyle/>
          <a:p>
            <a:pPr algn="l">
              <a:lnSpc>
                <a:spcPct val="108000"/>
              </a:lnSpc>
            </a:pPr>
            <a:r>
              <a:rPr sz="1500" b="1" i="0">
                <a:solidFill>
                  <a:srgbClr val="14B8A6"/>
                </a:solidFill>
                <a:latin typeface="Arial"/>
              </a:rPr>
              <a:t>Deep learning</a:t>
            </a:r>
          </a:p>
        </p:txBody>
      </p:sp>
      <p:sp>
        <p:nvSpPr>
          <p:cNvPr id="15" name="TextBox 14"/>
          <p:cNvSpPr txBox="1"/>
          <p:nvPr/>
        </p:nvSpPr>
        <p:spPr>
          <a:xfrm>
            <a:off x="4498848" y="2377440"/>
            <a:ext cx="3200400" cy="3063239"/>
          </a:xfrm>
          <a:prstGeom prst="rect">
            <a:avLst/>
          </a:prstGeom>
          <a:noFill/>
        </p:spPr>
        <p:txBody>
          <a:bodyPr wrap="square" lIns="18288" rIns="18288" tIns="18288" bIns="18288">
            <a:spAutoFit/>
          </a:bodyPr>
          <a:lstStyle/>
          <a:p>
            <a:pPr>
              <a:lnSpc>
                <a:spcPct val="105000"/>
              </a:lnSpc>
              <a:spcAft>
                <a:spcPts val="500"/>
              </a:spcAft>
            </a:pPr>
            <a:r>
              <a:rPr sz="1000">
                <a:solidFill>
                  <a:srgbClr val="14B8A6"/>
                </a:solidFill>
                <a:latin typeface="Arial"/>
              </a:rPr>
              <a:t>■  </a:t>
            </a:r>
            <a:r>
              <a:rPr sz="1400" b="0">
                <a:solidFill>
                  <a:srgbClr val="E8EDF5"/>
                </a:solidFill>
                <a:latin typeface="Arial"/>
              </a:rPr>
              <a:t>Daily and hourly LSTM</a:t>
            </a:r>
          </a:p>
          <a:p>
            <a:pPr>
              <a:lnSpc>
                <a:spcPct val="105000"/>
              </a:lnSpc>
              <a:spcAft>
                <a:spcPts val="500"/>
              </a:spcAft>
            </a:pPr>
            <a:r>
              <a:rPr sz="1000">
                <a:solidFill>
                  <a:srgbClr val="14B8A6"/>
                </a:solidFill>
                <a:latin typeface="Arial"/>
              </a:rPr>
              <a:t>■  </a:t>
            </a:r>
            <a:r>
              <a:rPr sz="1400" b="0">
                <a:solidFill>
                  <a:srgbClr val="E8EDF5"/>
                </a:solidFill>
                <a:latin typeface="Arial"/>
              </a:rPr>
              <a:t>ConvLSTM encoder–forecaster on the 2° lattice (60,198 parameters, 6 h ahead)</a:t>
            </a:r>
          </a:p>
          <a:p>
            <a:pPr>
              <a:lnSpc>
                <a:spcPct val="105000"/>
              </a:lnSpc>
              <a:spcAft>
                <a:spcPts val="500"/>
              </a:spcAft>
            </a:pPr>
            <a:r>
              <a:rPr sz="1000">
                <a:solidFill>
                  <a:srgbClr val="14B8A6"/>
                </a:solidFill>
                <a:latin typeface="Arial"/>
              </a:rPr>
              <a:t>■  </a:t>
            </a:r>
            <a:r>
              <a:rPr sz="1400" b="0">
                <a:solidFill>
                  <a:srgbClr val="E8EDF5"/>
                </a:solidFill>
                <a:latin typeface="Arial"/>
              </a:rPr>
              <a:t>CNN grid heatwave detector</a:t>
            </a:r>
          </a:p>
          <a:p>
            <a:pPr>
              <a:lnSpc>
                <a:spcPct val="105000"/>
              </a:lnSpc>
              <a:spcAft>
                <a:spcPts val="500"/>
              </a:spcAft>
            </a:pPr>
            <a:r>
              <a:rPr sz="1000">
                <a:solidFill>
                  <a:srgbClr val="14B8A6"/>
                </a:solidFill>
                <a:latin typeface="Arial"/>
              </a:rPr>
              <a:t>■  </a:t>
            </a:r>
            <a:r>
              <a:rPr sz="1400" b="0">
                <a:solidFill>
                  <a:srgbClr val="E8EDF5"/>
                </a:solidFill>
                <a:latin typeface="Arial"/>
              </a:rPr>
              <a:t>Calibrated XGBoost detectors with SHAP</a:t>
            </a:r>
          </a:p>
        </p:txBody>
      </p:sp>
      <p:sp>
        <p:nvSpPr>
          <p:cNvPr id="16" name="Rounded Rectangle 15"/>
          <p:cNvSpPr/>
          <p:nvPr/>
        </p:nvSpPr>
        <p:spPr>
          <a:xfrm>
            <a:off x="8083296" y="1783080"/>
            <a:ext cx="3566160" cy="3749039"/>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783080"/>
            <a:ext cx="3566160" cy="5486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5" y="1947672"/>
            <a:ext cx="3200400" cy="411480"/>
          </a:xfrm>
          <a:prstGeom prst="rect">
            <a:avLst/>
          </a:prstGeom>
          <a:noFill/>
        </p:spPr>
        <p:txBody>
          <a:bodyPr wrap="square" lIns="18288" rIns="18288" tIns="18288" bIns="18288" anchor="t">
            <a:spAutoFit/>
          </a:bodyPr>
          <a:lstStyle/>
          <a:p>
            <a:pPr algn="l">
              <a:lnSpc>
                <a:spcPct val="108000"/>
              </a:lnSpc>
            </a:pPr>
            <a:r>
              <a:rPr sz="1500" b="1" i="0">
                <a:solidFill>
                  <a:srgbClr val="3B82F6"/>
                </a:solidFill>
                <a:latin typeface="Arial"/>
              </a:rPr>
              <a:t>Evaluation</a:t>
            </a:r>
          </a:p>
        </p:txBody>
      </p:sp>
      <p:sp>
        <p:nvSpPr>
          <p:cNvPr id="19" name="TextBox 18"/>
          <p:cNvSpPr txBox="1"/>
          <p:nvPr/>
        </p:nvSpPr>
        <p:spPr>
          <a:xfrm>
            <a:off x="8266175" y="2377440"/>
            <a:ext cx="3200400" cy="3063239"/>
          </a:xfrm>
          <a:prstGeom prst="rect">
            <a:avLst/>
          </a:prstGeom>
          <a:noFill/>
        </p:spPr>
        <p:txBody>
          <a:bodyPr wrap="square" lIns="18288" rIns="18288" tIns="18288" bIns="18288">
            <a:spAutoFit/>
          </a:bodyPr>
          <a:lstStyle/>
          <a:p>
            <a:pPr>
              <a:lnSpc>
                <a:spcPct val="105000"/>
              </a:lnSpc>
              <a:spcAft>
                <a:spcPts val="500"/>
              </a:spcAft>
            </a:pPr>
            <a:r>
              <a:rPr sz="1000">
                <a:solidFill>
                  <a:srgbClr val="3B82F6"/>
                </a:solidFill>
                <a:latin typeface="Arial"/>
              </a:rPr>
              <a:t>■  </a:t>
            </a:r>
            <a:r>
              <a:rPr sz="1400" b="0">
                <a:solidFill>
                  <a:srgbClr val="E8EDF5"/>
                </a:solidFill>
                <a:latin typeface="Arial"/>
              </a:rPr>
              <a:t>RMSE, MAE, NSE; skill vs persistence and climatology</a:t>
            </a:r>
          </a:p>
          <a:p>
            <a:pPr>
              <a:lnSpc>
                <a:spcPct val="105000"/>
              </a:lnSpc>
              <a:spcAft>
                <a:spcPts val="500"/>
              </a:spcAft>
            </a:pPr>
            <a:r>
              <a:rPr sz="1000">
                <a:solidFill>
                  <a:srgbClr val="3B82F6"/>
                </a:solidFill>
                <a:latin typeface="Arial"/>
              </a:rPr>
              <a:t>■  </a:t>
            </a:r>
            <a:r>
              <a:rPr sz="1400" b="0">
                <a:solidFill>
                  <a:srgbClr val="E8EDF5"/>
                </a:solidFill>
                <a:latin typeface="Arial"/>
              </a:rPr>
              <a:t>CSI, F1, POD, FAR; ROC-AUC, PR-AUC, Brier</a:t>
            </a:r>
          </a:p>
          <a:p>
            <a:pPr>
              <a:lnSpc>
                <a:spcPct val="105000"/>
              </a:lnSpc>
              <a:spcAft>
                <a:spcPts val="500"/>
              </a:spcAft>
            </a:pPr>
            <a:r>
              <a:rPr sz="1000">
                <a:solidFill>
                  <a:srgbClr val="3B82F6"/>
                </a:solidFill>
                <a:latin typeface="Arial"/>
              </a:rPr>
              <a:t>■  </a:t>
            </a:r>
            <a:r>
              <a:rPr sz="1400" b="0">
                <a:solidFill>
                  <a:srgbClr val="E8EDF5"/>
                </a:solidFill>
                <a:latin typeface="Arial"/>
              </a:rPr>
              <a:t>Diebold–Mariano and block bootstrap, Holm-corrected</a:t>
            </a:r>
          </a:p>
          <a:p>
            <a:pPr>
              <a:lnSpc>
                <a:spcPct val="105000"/>
              </a:lnSpc>
              <a:spcAft>
                <a:spcPts val="500"/>
              </a:spcAft>
            </a:pPr>
            <a:r>
              <a:rPr sz="1000">
                <a:solidFill>
                  <a:srgbClr val="3B82F6"/>
                </a:solidFill>
                <a:latin typeface="Arial"/>
              </a:rPr>
              <a:t>■  </a:t>
            </a:r>
            <a:r>
              <a:rPr sz="1400" b="0">
                <a:solidFill>
                  <a:srgbClr val="E8EDF5"/>
                </a:solidFill>
                <a:latin typeface="Arial"/>
              </a:rPr>
              <a:t>Thresholds tuned on 2021, tested on 2022</a:t>
            </a:r>
          </a:p>
        </p:txBody>
      </p:sp>
      <p:sp>
        <p:nvSpPr>
          <p:cNvPr id="20" name="TextBox 1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3 (models, evaluation design); Appendix C hyper-parameters; DEVIATIONS.md D7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14B8A6"/>
                </a:solidFill>
                <a:latin typeface="Arial"/>
              </a:rPr>
              <a:t>04</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Big Data architecture</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One code path from HDFS to alert — executed on a single-node pseudo-distributed Hadoop, YARN, Spark and Kafka cluster.</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ARCHITECTURE</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Batch and streaming paths share storage, labels and alert logic</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17</a:t>
            </a:r>
          </a:p>
        </p:txBody>
      </p:sp>
      <p:sp>
        <p:nvSpPr>
          <p:cNvPr id="8" name="TextBox 7"/>
          <p:cNvSpPr txBox="1"/>
          <p:nvPr/>
        </p:nvSpPr>
        <p:spPr>
          <a:xfrm>
            <a:off x="548640" y="1645920"/>
            <a:ext cx="246888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SOURCES</a:t>
            </a:r>
          </a:p>
        </p:txBody>
      </p:sp>
      <p:sp>
        <p:nvSpPr>
          <p:cNvPr id="9" name="TextBox 8"/>
          <p:cNvSpPr txBox="1"/>
          <p:nvPr/>
        </p:nvSpPr>
        <p:spPr>
          <a:xfrm>
            <a:off x="3429000" y="1645920"/>
            <a:ext cx="246888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HDFS + SPARK ON YARN</a:t>
            </a:r>
          </a:p>
        </p:txBody>
      </p:sp>
      <p:sp>
        <p:nvSpPr>
          <p:cNvPr id="10" name="TextBox 9"/>
          <p:cNvSpPr txBox="1"/>
          <p:nvPr/>
        </p:nvSpPr>
        <p:spPr>
          <a:xfrm>
            <a:off x="6309360" y="1645920"/>
            <a:ext cx="246888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MODELS</a:t>
            </a:r>
          </a:p>
        </p:txBody>
      </p:sp>
      <p:sp>
        <p:nvSpPr>
          <p:cNvPr id="11" name="TextBox 10"/>
          <p:cNvSpPr txBox="1"/>
          <p:nvPr/>
        </p:nvSpPr>
        <p:spPr>
          <a:xfrm>
            <a:off x="9189720" y="1645920"/>
            <a:ext cx="2468880" cy="274320"/>
          </a:xfrm>
          <a:prstGeom prst="rect">
            <a:avLst/>
          </a:prstGeom>
          <a:noFill/>
        </p:spPr>
        <p:txBody>
          <a:bodyPr wrap="square" lIns="18288" rIns="18288" tIns="18288" bIns="18288" anchor="t">
            <a:spAutoFit/>
          </a:bodyPr>
          <a:lstStyle/>
          <a:p>
            <a:pPr algn="l">
              <a:lnSpc>
                <a:spcPct val="108000"/>
              </a:lnSpc>
            </a:pPr>
            <a:r>
              <a:rPr sz="1150" b="1" i="0">
                <a:solidFill>
                  <a:srgbClr val="3B82F6"/>
                </a:solidFill>
                <a:latin typeface="Arial"/>
              </a:rPr>
              <a:t>KAFKA + STREAMING</a:t>
            </a:r>
          </a:p>
        </p:txBody>
      </p:sp>
      <p:sp>
        <p:nvSpPr>
          <p:cNvPr id="12" name="Rounded Rectangle 11"/>
          <p:cNvSpPr/>
          <p:nvPr/>
        </p:nvSpPr>
        <p:spPr>
          <a:xfrm>
            <a:off x="548640" y="1965960"/>
            <a:ext cx="2468880" cy="960120"/>
          </a:xfrm>
          <a:prstGeom prst="roundRect">
            <a:avLst>
              <a:gd name="adj" fmla="val 8000"/>
            </a:avLst>
          </a:prstGeom>
          <a:solidFill>
            <a:srgbClr val="111C2E"/>
          </a:solid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020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F5A524"/>
                </a:solidFill>
                <a:latin typeface="Arial"/>
              </a:rPr>
              <a:t>ERA5 (Open-Meteo archive)</a:t>
            </a:r>
          </a:p>
        </p:txBody>
      </p:sp>
      <p:sp>
        <p:nvSpPr>
          <p:cNvPr id="14" name="TextBox 13"/>
          <p:cNvSpPr txBox="1"/>
          <p:nvPr/>
        </p:nvSpPr>
        <p:spPr>
          <a:xfrm>
            <a:off x="658368" y="2295144"/>
            <a:ext cx="2249424" cy="594360"/>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20 cities hourly 2015–2022; 1990–2026 extension in progress</a:t>
            </a:r>
          </a:p>
        </p:txBody>
      </p:sp>
      <p:sp>
        <p:nvSpPr>
          <p:cNvPr id="15" name="Rounded Rectangle 14"/>
          <p:cNvSpPr/>
          <p:nvPr/>
        </p:nvSpPr>
        <p:spPr>
          <a:xfrm>
            <a:off x="548640" y="3154680"/>
            <a:ext cx="2468880" cy="868680"/>
          </a:xfrm>
          <a:prstGeom prst="roundRect">
            <a:avLst>
              <a:gd name="adj" fmla="val 8000"/>
            </a:avLst>
          </a:prstGeom>
          <a:solidFill>
            <a:srgbClr val="111C2E"/>
          </a:solid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20954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F5A524"/>
                </a:solidFill>
                <a:latin typeface="Arial"/>
              </a:rPr>
              <a:t>Open-Meteo forecast</a:t>
            </a:r>
          </a:p>
        </p:txBody>
      </p:sp>
      <p:sp>
        <p:nvSpPr>
          <p:cNvPr id="17" name="TextBox 16"/>
          <p:cNvSpPr txBox="1"/>
          <p:nvPr/>
        </p:nvSpPr>
        <p:spPr>
          <a:xfrm>
            <a:off x="658368" y="348386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Live 72-h feed, bias-corrected to ERA5</a:t>
            </a:r>
          </a:p>
        </p:txBody>
      </p:sp>
      <p:sp>
        <p:nvSpPr>
          <p:cNvPr id="18" name="Rounded Rectangle 17"/>
          <p:cNvSpPr/>
          <p:nvPr/>
        </p:nvSpPr>
        <p:spPr>
          <a:xfrm>
            <a:off x="548640" y="4251960"/>
            <a:ext cx="2468880" cy="868680"/>
          </a:xfrm>
          <a:prstGeom prst="roundRect">
            <a:avLst>
              <a:gd name="adj" fmla="val 8000"/>
            </a:avLst>
          </a:prstGeom>
          <a:solidFill>
            <a:srgbClr val="111C2E"/>
          </a:solidFill>
          <a:ln w="15875">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306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E5484D"/>
                </a:solidFill>
                <a:latin typeface="Arial"/>
              </a:rPr>
              <a:t>PMD station adapter</a:t>
            </a:r>
          </a:p>
        </p:txBody>
      </p:sp>
      <p:sp>
        <p:nvSpPr>
          <p:cNvPr id="20" name="TextBox 19"/>
          <p:cNvSpPr txBox="1"/>
          <p:nvPr/>
        </p:nvSpPr>
        <p:spPr>
          <a:xfrm>
            <a:off x="658368" y="458114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Implemented; no PMD data available</a:t>
            </a:r>
          </a:p>
        </p:txBody>
      </p:sp>
      <p:sp>
        <p:nvSpPr>
          <p:cNvPr id="21" name="Rounded Rectangle 20"/>
          <p:cNvSpPr/>
          <p:nvPr/>
        </p:nvSpPr>
        <p:spPr>
          <a:xfrm>
            <a:off x="3429000" y="1965960"/>
            <a:ext cx="2468880" cy="960120"/>
          </a:xfrm>
          <a:prstGeom prst="roundRect">
            <a:avLst>
              <a:gd name="adj" fmla="val 8000"/>
            </a:avLst>
          </a:prstGeom>
          <a:solidFill>
            <a:srgbClr val="111C2E"/>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38728" y="2020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14B8A6"/>
                </a:solidFill>
                <a:latin typeface="Arial"/>
              </a:rPr>
              <a:t>HDFS bronze</a:t>
            </a:r>
          </a:p>
        </p:txBody>
      </p:sp>
      <p:sp>
        <p:nvSpPr>
          <p:cNvPr id="23" name="TextBox 22"/>
          <p:cNvSpPr txBox="1"/>
          <p:nvPr/>
        </p:nvSpPr>
        <p:spPr>
          <a:xfrm>
            <a:off x="3538728" y="2295144"/>
            <a:ext cx="2249424" cy="594360"/>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city=*/year=* Parquet; 355 partitions, fsck HEALTHY</a:t>
            </a:r>
          </a:p>
        </p:txBody>
      </p:sp>
      <p:sp>
        <p:nvSpPr>
          <p:cNvPr id="24" name="Rounded Rectangle 23"/>
          <p:cNvSpPr/>
          <p:nvPr/>
        </p:nvSpPr>
        <p:spPr>
          <a:xfrm>
            <a:off x="3429000" y="3154680"/>
            <a:ext cx="2468880" cy="868680"/>
          </a:xfrm>
          <a:prstGeom prst="roundRect">
            <a:avLst>
              <a:gd name="adj" fmla="val 8000"/>
            </a:avLst>
          </a:prstGeom>
          <a:solidFill>
            <a:srgbClr val="111C2E"/>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38728" y="320954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14B8A6"/>
                </a:solidFill>
                <a:latin typeface="Arial"/>
              </a:rPr>
              <a:t>Spark ETL on YARN</a:t>
            </a:r>
          </a:p>
        </p:txBody>
      </p:sp>
      <p:sp>
        <p:nvSpPr>
          <p:cNvPr id="26" name="TextBox 25"/>
          <p:cNvSpPr txBox="1"/>
          <p:nvPr/>
        </p:nvSpPr>
        <p:spPr>
          <a:xfrm>
            <a:off x="3538728" y="348386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QC, PKT days, train-only climatology, labels, features</a:t>
            </a:r>
          </a:p>
        </p:txBody>
      </p:sp>
      <p:sp>
        <p:nvSpPr>
          <p:cNvPr id="27" name="Rounded Rectangle 26"/>
          <p:cNvSpPr/>
          <p:nvPr/>
        </p:nvSpPr>
        <p:spPr>
          <a:xfrm>
            <a:off x="3429000" y="4251960"/>
            <a:ext cx="2468880" cy="868680"/>
          </a:xfrm>
          <a:prstGeom prst="roundRect">
            <a:avLst>
              <a:gd name="adj" fmla="val 8000"/>
            </a:avLst>
          </a:prstGeom>
          <a:solidFill>
            <a:srgbClr val="111C2E"/>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38728" y="4306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14B8A6"/>
                </a:solidFill>
                <a:latin typeface="Arial"/>
              </a:rPr>
              <a:t>HDFS silver / gold</a:t>
            </a:r>
          </a:p>
        </p:txBody>
      </p:sp>
      <p:sp>
        <p:nvSpPr>
          <p:cNvPr id="29" name="TextBox 28"/>
          <p:cNvSpPr txBox="1"/>
          <p:nvPr/>
        </p:nvSpPr>
        <p:spPr>
          <a:xfrm>
            <a:off x="3538728" y="458114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8 tables — parity with pandas reference</a:t>
            </a:r>
          </a:p>
        </p:txBody>
      </p:sp>
      <p:sp>
        <p:nvSpPr>
          <p:cNvPr id="30" name="Rounded Rectangle 29"/>
          <p:cNvSpPr/>
          <p:nvPr/>
        </p:nvSpPr>
        <p:spPr>
          <a:xfrm>
            <a:off x="6309360" y="1965960"/>
            <a:ext cx="2468880" cy="960120"/>
          </a:xfrm>
          <a:prstGeom prst="roundRect">
            <a:avLst>
              <a:gd name="adj" fmla="val 8000"/>
            </a:avLst>
          </a:prstGeom>
          <a:solidFill>
            <a:srgbClr val="111C2E"/>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020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A78BFA"/>
                </a:solidFill>
                <a:latin typeface="Arial"/>
              </a:rPr>
              <a:t>Reference models</a:t>
            </a:r>
          </a:p>
        </p:txBody>
      </p:sp>
      <p:sp>
        <p:nvSpPr>
          <p:cNvPr id="32" name="TextBox 31"/>
          <p:cNvSpPr txBox="1"/>
          <p:nvPr/>
        </p:nvSpPr>
        <p:spPr>
          <a:xfrm>
            <a:off x="6419088" y="2295144"/>
            <a:ext cx="2249424" cy="594360"/>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SARIMA · XGBoost · LSTM · ConvLSTM · CNN (pandas / PyTorch)</a:t>
            </a:r>
          </a:p>
        </p:txBody>
      </p:sp>
      <p:sp>
        <p:nvSpPr>
          <p:cNvPr id="33" name="Rounded Rectangle 32"/>
          <p:cNvSpPr/>
          <p:nvPr/>
        </p:nvSpPr>
        <p:spPr>
          <a:xfrm>
            <a:off x="6309360" y="3154680"/>
            <a:ext cx="2468880" cy="868680"/>
          </a:xfrm>
          <a:prstGeom prst="roundRect">
            <a:avLst>
              <a:gd name="adj" fmla="val 8000"/>
            </a:avLst>
          </a:prstGeom>
          <a:solidFill>
            <a:srgbClr val="111C2E"/>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20954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A78BFA"/>
                </a:solidFill>
                <a:latin typeface="Arial"/>
              </a:rPr>
              <a:t>Spark MLlib on YARN</a:t>
            </a:r>
          </a:p>
        </p:txBody>
      </p:sp>
      <p:sp>
        <p:nvSpPr>
          <p:cNvPr id="35" name="TextBox 34"/>
          <p:cNvSpPr txBox="1"/>
          <p:nvPr/>
        </p:nvSpPr>
        <p:spPr>
          <a:xfrm>
            <a:off x="6419088" y="348386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GBT regressor (Tmax) and classifier (heatwave)</a:t>
            </a:r>
          </a:p>
        </p:txBody>
      </p:sp>
      <p:sp>
        <p:nvSpPr>
          <p:cNvPr id="36" name="Rounded Rectangle 35"/>
          <p:cNvSpPr/>
          <p:nvPr/>
        </p:nvSpPr>
        <p:spPr>
          <a:xfrm>
            <a:off x="6309360" y="4251960"/>
            <a:ext cx="2468880" cy="868680"/>
          </a:xfrm>
          <a:prstGeom prst="roundRect">
            <a:avLst>
              <a:gd name="adj" fmla="val 8000"/>
            </a:avLst>
          </a:prstGeom>
          <a:solidFill>
            <a:srgbClr val="111C2E"/>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306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A78BFA"/>
                </a:solidFill>
                <a:latin typeface="Arial"/>
              </a:rPr>
              <a:t>Alert engine</a:t>
            </a:r>
          </a:p>
        </p:txBody>
      </p:sp>
      <p:sp>
        <p:nvSpPr>
          <p:cNvPr id="38" name="TextBox 37"/>
          <p:cNvSpPr txBox="1"/>
          <p:nvPr/>
        </p:nvSpPr>
        <p:spPr>
          <a:xfrm>
            <a:off x="6419088" y="458114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Rules + detectors → Watch / Warning / Emergency</a:t>
            </a:r>
          </a:p>
        </p:txBody>
      </p:sp>
      <p:sp>
        <p:nvSpPr>
          <p:cNvPr id="39" name="Rounded Rectangle 38"/>
          <p:cNvSpPr/>
          <p:nvPr/>
        </p:nvSpPr>
        <p:spPr>
          <a:xfrm>
            <a:off x="9189720" y="1965960"/>
            <a:ext cx="2468880" cy="960120"/>
          </a:xfrm>
          <a:prstGeom prst="roundRect">
            <a:avLst>
              <a:gd name="adj" fmla="val 8000"/>
            </a:avLst>
          </a:prstGeom>
          <a:solidFill>
            <a:srgbClr val="111C2E"/>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99448" y="2020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3B82F6"/>
                </a:solidFill>
                <a:latin typeface="Arial"/>
              </a:rPr>
              <a:t>Kafka hf-obs</a:t>
            </a:r>
          </a:p>
        </p:txBody>
      </p:sp>
      <p:sp>
        <p:nvSpPr>
          <p:cNvPr id="41" name="TextBox 40"/>
          <p:cNvSpPr txBox="1"/>
          <p:nvPr/>
        </p:nvSpPr>
        <p:spPr>
          <a:xfrm>
            <a:off x="9299448" y="2295144"/>
            <a:ext cx="2249424" cy="594360"/>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KRaft, 1 broker, 4 partitions; fed by ERA5 replay producer</a:t>
            </a:r>
          </a:p>
        </p:txBody>
      </p:sp>
      <p:sp>
        <p:nvSpPr>
          <p:cNvPr id="42" name="Rounded Rectangle 41"/>
          <p:cNvSpPr/>
          <p:nvPr/>
        </p:nvSpPr>
        <p:spPr>
          <a:xfrm>
            <a:off x="9189720" y="3154680"/>
            <a:ext cx="2468880" cy="868680"/>
          </a:xfrm>
          <a:prstGeom prst="roundRect">
            <a:avLst>
              <a:gd name="adj" fmla="val 8000"/>
            </a:avLst>
          </a:prstGeom>
          <a:solidFill>
            <a:srgbClr val="111C2E"/>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99448" y="320954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3B82F6"/>
                </a:solidFill>
                <a:latin typeface="Arial"/>
              </a:rPr>
              <a:t>Structured Streaming</a:t>
            </a:r>
          </a:p>
        </p:txBody>
      </p:sp>
      <p:sp>
        <p:nvSpPr>
          <p:cNvPr id="44" name="TextBox 43"/>
          <p:cNvSpPr txBox="1"/>
          <p:nvPr/>
        </p:nvSpPr>
        <p:spPr>
          <a:xfrm>
            <a:off x="9299448" y="348386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Per-city state, HDFS checkpoint</a:t>
            </a:r>
          </a:p>
        </p:txBody>
      </p:sp>
      <p:sp>
        <p:nvSpPr>
          <p:cNvPr id="45" name="Rounded Rectangle 44"/>
          <p:cNvSpPr/>
          <p:nvPr/>
        </p:nvSpPr>
        <p:spPr>
          <a:xfrm>
            <a:off x="9189720" y="4251960"/>
            <a:ext cx="2468880" cy="868680"/>
          </a:xfrm>
          <a:prstGeom prst="roundRect">
            <a:avLst>
              <a:gd name="adj" fmla="val 8000"/>
            </a:avLst>
          </a:prstGeom>
          <a:solidFill>
            <a:srgbClr val="111C2E"/>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99448" y="4306824"/>
            <a:ext cx="2249424" cy="292608"/>
          </a:xfrm>
          <a:prstGeom prst="rect">
            <a:avLst/>
          </a:prstGeom>
          <a:noFill/>
        </p:spPr>
        <p:txBody>
          <a:bodyPr wrap="square" lIns="18288" rIns="18288" tIns="18288" bIns="18288" anchor="t">
            <a:spAutoFit/>
          </a:bodyPr>
          <a:lstStyle/>
          <a:p>
            <a:pPr algn="l">
              <a:lnSpc>
                <a:spcPct val="108000"/>
              </a:lnSpc>
            </a:pPr>
            <a:r>
              <a:rPr sz="1250" b="1" i="0">
                <a:solidFill>
                  <a:srgbClr val="3B82F6"/>
                </a:solidFill>
                <a:latin typeface="Arial"/>
              </a:rPr>
              <a:t>Sinks</a:t>
            </a:r>
          </a:p>
        </p:txBody>
      </p:sp>
      <p:sp>
        <p:nvSpPr>
          <p:cNvPr id="47" name="TextBox 46"/>
          <p:cNvSpPr txBox="1"/>
          <p:nvPr/>
        </p:nvSpPr>
        <p:spPr>
          <a:xfrm>
            <a:off x="9299448" y="4581144"/>
            <a:ext cx="2249424" cy="502919"/>
          </a:xfrm>
          <a:prstGeom prst="rect">
            <a:avLst/>
          </a:prstGeom>
          <a:noFill/>
        </p:spPr>
        <p:txBody>
          <a:bodyPr wrap="square" lIns="18288" rIns="18288" tIns="18288" bIns="18288" anchor="t">
            <a:spAutoFit/>
          </a:bodyPr>
          <a:lstStyle/>
          <a:p>
            <a:pPr algn="l">
              <a:lnSpc>
                <a:spcPct val="100000"/>
              </a:lnSpc>
            </a:pPr>
            <a:r>
              <a:rPr sz="1050" b="0" i="0">
                <a:solidFill>
                  <a:srgbClr val="E8EDF5"/>
                </a:solidFill>
                <a:latin typeface="Arial"/>
              </a:rPr>
              <a:t>hf-alerts (at-least-once) · HDFS scored Parquet (exactly-once)</a:t>
            </a:r>
          </a:p>
        </p:txBody>
      </p:sp>
      <p:cxnSp>
        <p:nvCxnSpPr>
          <p:cNvPr id="48" name="Connector 47"/>
          <p:cNvCxnSpPr/>
          <p:nvPr/>
        </p:nvCxnSpPr>
        <p:spPr>
          <a:xfrm>
            <a:off x="3017520" y="2450592"/>
            <a:ext cx="411480" cy="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63440" y="2926080"/>
            <a:ext cx="0" cy="22860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663440" y="4023360"/>
            <a:ext cx="0" cy="22860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897880" y="4681728"/>
            <a:ext cx="411480" cy="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897880" y="3611880"/>
            <a:ext cx="411480" cy="82296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897880" y="2514600"/>
            <a:ext cx="411480" cy="182880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78240" y="4681728"/>
            <a:ext cx="411480" cy="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424160" y="2926080"/>
            <a:ext cx="0" cy="22860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424160" y="4023360"/>
            <a:ext cx="0" cy="228600"/>
          </a:xfrm>
          <a:prstGeom prst="line">
            <a:avLst/>
          </a:prstGeom>
          <a:ln w="22225">
            <a:solidFill>
              <a:srgbClr val="9A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669280" y="1828800"/>
            <a:ext cx="2743200" cy="274320"/>
          </a:xfrm>
          <a:prstGeom prst="rect">
            <a:avLst/>
          </a:prstGeom>
          <a:noFill/>
        </p:spPr>
        <p:txBody>
          <a:bodyPr wrap="square" lIns="18288" rIns="18288" tIns="18288" bIns="18288" anchor="t">
            <a:spAutoFit/>
          </a:bodyPr>
          <a:lstStyle/>
          <a:p>
            <a:pPr algn="l">
              <a:lnSpc>
                <a:spcPct val="108000"/>
              </a:lnSpc>
            </a:pPr>
            <a:r>
              <a:rPr sz="900" b="0" i="0">
                <a:solidFill>
                  <a:srgbClr val="E8EDF5"/>
                </a:solidFill>
                <a:latin typeface="Arial"/>
              </a:rPr>
              <a:t/>
            </a:r>
          </a:p>
        </p:txBody>
      </p:sp>
      <p:sp>
        <p:nvSpPr>
          <p:cNvPr id="58" name="Rounded Rectangle 57"/>
          <p:cNvSpPr/>
          <p:nvPr/>
        </p:nvSpPr>
        <p:spPr>
          <a:xfrm>
            <a:off x="548640" y="5349240"/>
            <a:ext cx="11091672" cy="640080"/>
          </a:xfrm>
          <a:prstGeom prst="roundRect">
            <a:avLst>
              <a:gd name="adj" fmla="val 15000"/>
            </a:avLst>
          </a:prstGeom>
          <a:solidFill>
            <a:srgbClr val="1A141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77240" y="5349240"/>
            <a:ext cx="10698480" cy="640080"/>
          </a:xfrm>
          <a:prstGeom prst="rect">
            <a:avLst/>
          </a:prstGeom>
          <a:noFill/>
        </p:spPr>
        <p:txBody>
          <a:bodyPr wrap="square" lIns="18288" rIns="18288" tIns="18288" bIns="18288" anchor="ctr">
            <a:spAutoFit/>
          </a:bodyPr>
          <a:lstStyle/>
          <a:p>
            <a:pPr algn="l">
              <a:lnSpc>
                <a:spcPct val="108000"/>
              </a:lnSpc>
            </a:pPr>
            <a:r>
              <a:rPr sz="1300" b="1" i="0">
                <a:solidFill>
                  <a:srgbClr val="F5A524"/>
                </a:solidFill>
                <a:latin typeface="Arial"/>
              </a:rPr>
              <a:t>All daemons on one 2-vCPU / 7.7 GB node — a single-node pseudo-distributed cluster. </a:t>
            </a:r>
            <a:r>
              <a:rPr sz="1300" b="0" i="0">
                <a:solidFill>
                  <a:srgbClr val="E8EDF5"/>
                </a:solidFill>
                <a:latin typeface="Arial"/>
              </a:rPr>
              <a:t>Real services and protocols; no multi-node parallelism.</a:t>
            </a:r>
          </a:p>
        </p:txBody>
      </p:sp>
      <p:sp>
        <p:nvSpPr>
          <p:cNvPr id="60" name="TextBox 5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heatflood-sentinel docs/bigdata.md; DEVIATIONS.md D3, D8; thesis Ch. 4 architecture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CLUSTER SETUP</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A real Hadoop stack ran end-to-end on one machine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18</a:t>
            </a:r>
          </a:p>
        </p:txBody>
      </p:sp>
      <p:graphicFrame>
        <p:nvGraphicFramePr>
          <p:cNvPr id="8" name="Table 7"/>
          <p:cNvGraphicFramePr>
            <a:graphicFrameLocks noGrp="1"/>
          </p:cNvGraphicFramePr>
          <p:nvPr/>
        </p:nvGraphicFramePr>
        <p:xfrm>
          <a:off x="548640" y="1783080"/>
          <a:ext cx="6675120" cy="3931914"/>
        </p:xfrm>
        <a:graphic>
          <a:graphicData uri="http://schemas.openxmlformats.org/drawingml/2006/table">
            <a:tbl>
              <a:tblPr firstRow="1" bandRow="1">
                <a:tableStyleId>{5940675A-B579-460E-94D1-54222C63F5DA}</a:tableStyleId>
              </a:tblPr>
              <a:tblGrid>
                <a:gridCol w="1463040"/>
                <a:gridCol w="5212080"/>
              </a:tblGrid>
              <a:tr h="561702">
                <a:tc>
                  <a:txBody>
                    <a:bodyPr wrap="square"/>
                    <a:lstStyle/>
                    <a:p>
                      <a:r>
                        <a:rPr sz="1350" b="1">
                          <a:solidFill>
                            <a:srgbClr val="F5A524"/>
                          </a:solidFill>
                          <a:latin typeface="Arial"/>
                        </a:rPr>
                        <a:t>Component</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1">
                          <a:solidFill>
                            <a:srgbClr val="F5A524"/>
                          </a:solidFill>
                          <a:latin typeface="Arial"/>
                        </a:rPr>
                        <a:t>Version and configuration</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350" b="1">
                          <a:solidFill>
                            <a:srgbClr val="E8EDF5"/>
                          </a:solidFill>
                          <a:latin typeface="Arial"/>
                        </a:rPr>
                        <a:t>HDFS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0">
                          <a:solidFill>
                            <a:srgbClr val="E8EDF5"/>
                          </a:solidFill>
                          <a:latin typeface="Arial"/>
                        </a:rPr>
                        <a:t>Hadoop 3.3.6 · NameNode + DataNode · replication 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350" b="1">
                          <a:solidFill>
                            <a:srgbClr val="E8EDF5"/>
                          </a:solidFill>
                          <a:latin typeface="Arial"/>
                        </a:rPr>
                        <a:t>YARN</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0">
                          <a:solidFill>
                            <a:srgbClr val="E8EDF5"/>
                          </a:solidFill>
                          <a:latin typeface="Arial"/>
                        </a:rPr>
                        <a:t>1 ResourceManager + 1 NodeManager (4 GB / 4 vcores advertised)</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350" b="1">
                          <a:solidFill>
                            <a:srgbClr val="E8EDF5"/>
                          </a:solidFill>
                          <a:latin typeface="Arial"/>
                        </a:rPr>
                        <a:t>Spark</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0">
                          <a:solidFill>
                            <a:srgbClr val="E8EDF5"/>
                          </a:solidFill>
                          <a:latin typeface="Arial"/>
                        </a:rPr>
                        <a:t>3.5.9 on YARN, client mode · 1 executor × 2 cores, 1 GB heap</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350" b="1">
                          <a:solidFill>
                            <a:srgbClr val="E8EDF5"/>
                          </a:solidFill>
                          <a:latin typeface="Arial"/>
                        </a:rPr>
                        <a:t>Kafka</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0">
                          <a:solidFill>
                            <a:srgbClr val="E8EDF5"/>
                          </a:solidFill>
                          <a:latin typeface="Arial"/>
                        </a:rPr>
                        <a:t>3.9.2 KRaft, 1 broker · hf-obs 4 partitions, hf-alerts 1</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350" b="1">
                          <a:solidFill>
                            <a:srgbClr val="E8EDF5"/>
                          </a:solidFill>
                          <a:latin typeface="Arial"/>
                        </a:rPr>
                        <a:t>Host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0">
                          <a:solidFill>
                            <a:srgbClr val="E8EDF5"/>
                          </a:solidFill>
                          <a:latin typeface="Arial"/>
                        </a:rPr>
                        <a:t>2 vCPU aarch64 · 7.7 GB RAM · OpenJDK 17 · Python 3.12</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61702">
                <a:tc>
                  <a:txBody>
                    <a:bodyPr wrap="square"/>
                    <a:lstStyle/>
                    <a:p>
                      <a:r>
                        <a:rPr sz="1350" b="1">
                          <a:solidFill>
                            <a:srgbClr val="E8EDF5"/>
                          </a:solidFill>
                          <a:latin typeface="Arial"/>
                        </a:rPr>
                        <a:t>Evidence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50" b="0">
                          <a:solidFill>
                            <a:srgbClr val="E8EDF5"/>
                          </a:solidFill>
                          <a:latin typeface="Arial"/>
                        </a:rPr>
                        <a:t>9 YARN applications logged · 16 Big Data tests passed</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Rounded Rectangle 8"/>
          <p:cNvSpPr/>
          <p:nvPr/>
        </p:nvSpPr>
        <p:spPr>
          <a:xfrm>
            <a:off x="7452360" y="1783080"/>
            <a:ext cx="4187952" cy="1874519"/>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60" y="1783080"/>
            <a:ext cx="4187952" cy="54864"/>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1947672"/>
            <a:ext cx="3822191" cy="411480"/>
          </a:xfrm>
          <a:prstGeom prst="rect">
            <a:avLst/>
          </a:prstGeom>
          <a:noFill/>
        </p:spPr>
        <p:txBody>
          <a:bodyPr wrap="square" lIns="18288" rIns="18288" tIns="18288" bIns="18288" anchor="t">
            <a:spAutoFit/>
          </a:bodyPr>
          <a:lstStyle/>
          <a:p>
            <a:pPr algn="l">
              <a:lnSpc>
                <a:spcPct val="108000"/>
              </a:lnSpc>
            </a:pPr>
            <a:r>
              <a:rPr sz="1500" b="1" i="0">
                <a:solidFill>
                  <a:srgbClr val="22C55E"/>
                </a:solidFill>
                <a:latin typeface="Arial"/>
              </a:rPr>
              <a:t>What it demonstrates</a:t>
            </a:r>
          </a:p>
        </p:txBody>
      </p:sp>
      <p:sp>
        <p:nvSpPr>
          <p:cNvPr id="12" name="TextBox 11"/>
          <p:cNvSpPr txBox="1"/>
          <p:nvPr/>
        </p:nvSpPr>
        <p:spPr>
          <a:xfrm>
            <a:off x="7635240" y="2377440"/>
            <a:ext cx="3822191" cy="1188719"/>
          </a:xfrm>
          <a:prstGeom prst="rect">
            <a:avLst/>
          </a:prstGeom>
          <a:noFill/>
        </p:spPr>
        <p:txBody>
          <a:bodyPr wrap="square" lIns="18288" rIns="18288" tIns="18288" bIns="18288">
            <a:spAutoFit/>
          </a:bodyPr>
          <a:lstStyle/>
          <a:p>
            <a:pPr>
              <a:lnSpc>
                <a:spcPct val="105000"/>
              </a:lnSpc>
              <a:spcAft>
                <a:spcPts val="500"/>
              </a:spcAft>
            </a:pPr>
            <a:r>
              <a:rPr sz="950">
                <a:solidFill>
                  <a:srgbClr val="22C55E"/>
                </a:solidFill>
                <a:latin typeface="Arial"/>
              </a:rPr>
              <a:t>■  </a:t>
            </a:r>
            <a:r>
              <a:rPr sz="1350" b="0">
                <a:solidFill>
                  <a:srgbClr val="E8EDF5"/>
                </a:solidFill>
                <a:latin typeface="Arial"/>
              </a:rPr>
              <a:t>Real HDFS blocks, YARN containers, Kafka log</a:t>
            </a:r>
          </a:p>
          <a:p>
            <a:pPr>
              <a:lnSpc>
                <a:spcPct val="105000"/>
              </a:lnSpc>
              <a:spcAft>
                <a:spcPts val="500"/>
              </a:spcAft>
            </a:pPr>
            <a:r>
              <a:rPr sz="950">
                <a:solidFill>
                  <a:srgbClr val="22C55E"/>
                </a:solidFill>
                <a:latin typeface="Arial"/>
              </a:rPr>
              <a:t>■  </a:t>
            </a:r>
            <a:r>
              <a:rPr sz="1350" b="0">
                <a:solidFill>
                  <a:srgbClr val="E8EDF5"/>
                </a:solidFill>
                <a:latin typeface="Arial"/>
              </a:rPr>
              <a:t>Spark shuffle, state store, checkpoints</a:t>
            </a:r>
          </a:p>
        </p:txBody>
      </p:sp>
      <p:sp>
        <p:nvSpPr>
          <p:cNvPr id="13" name="Rounded Rectangle 12"/>
          <p:cNvSpPr/>
          <p:nvPr/>
        </p:nvSpPr>
        <p:spPr>
          <a:xfrm>
            <a:off x="7452360" y="3840480"/>
            <a:ext cx="4187952" cy="1874519"/>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3840480"/>
            <a:ext cx="4187952" cy="5486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4005072"/>
            <a:ext cx="3822191" cy="411480"/>
          </a:xfrm>
          <a:prstGeom prst="rect">
            <a:avLst/>
          </a:prstGeom>
          <a:noFill/>
        </p:spPr>
        <p:txBody>
          <a:bodyPr wrap="square" lIns="18288" rIns="18288" tIns="18288" bIns="18288" anchor="t">
            <a:spAutoFit/>
          </a:bodyPr>
          <a:lstStyle/>
          <a:p>
            <a:pPr algn="l">
              <a:lnSpc>
                <a:spcPct val="108000"/>
              </a:lnSpc>
            </a:pPr>
            <a:r>
              <a:rPr sz="1500" b="1" i="0">
                <a:solidFill>
                  <a:srgbClr val="E5484D"/>
                </a:solidFill>
                <a:latin typeface="Arial"/>
              </a:rPr>
              <a:t>What it does not</a:t>
            </a:r>
          </a:p>
        </p:txBody>
      </p:sp>
      <p:sp>
        <p:nvSpPr>
          <p:cNvPr id="16" name="TextBox 15"/>
          <p:cNvSpPr txBox="1"/>
          <p:nvPr/>
        </p:nvSpPr>
        <p:spPr>
          <a:xfrm>
            <a:off x="7635240" y="4434840"/>
            <a:ext cx="3822191" cy="1188719"/>
          </a:xfrm>
          <a:prstGeom prst="rect">
            <a:avLst/>
          </a:prstGeom>
          <a:noFill/>
        </p:spPr>
        <p:txBody>
          <a:bodyPr wrap="square" lIns="18288" rIns="18288" tIns="18288" bIns="18288">
            <a:spAutoFit/>
          </a:bodyPr>
          <a:lstStyle/>
          <a:p>
            <a:pPr>
              <a:lnSpc>
                <a:spcPct val="105000"/>
              </a:lnSpc>
              <a:spcAft>
                <a:spcPts val="500"/>
              </a:spcAft>
            </a:pPr>
            <a:r>
              <a:rPr sz="950">
                <a:solidFill>
                  <a:srgbClr val="E5484D"/>
                </a:solidFill>
                <a:latin typeface="Arial"/>
              </a:rPr>
              <a:t>■  </a:t>
            </a:r>
            <a:r>
              <a:rPr sz="1350" b="0">
                <a:solidFill>
                  <a:srgbClr val="E8EDF5"/>
                </a:solidFill>
                <a:latin typeface="Arial"/>
              </a:rPr>
              <a:t>No multi-node parallelism or network cost</a:t>
            </a:r>
          </a:p>
          <a:p>
            <a:pPr>
              <a:lnSpc>
                <a:spcPct val="105000"/>
              </a:lnSpc>
              <a:spcAft>
                <a:spcPts val="500"/>
              </a:spcAft>
            </a:pPr>
            <a:r>
              <a:rPr sz="950">
                <a:solidFill>
                  <a:srgbClr val="E5484D"/>
                </a:solidFill>
                <a:latin typeface="Arial"/>
              </a:rPr>
              <a:t>■  </a:t>
            </a:r>
            <a:r>
              <a:rPr sz="1350" b="0">
                <a:solidFill>
                  <a:srgbClr val="E8EDF5"/>
                </a:solidFill>
                <a:latin typeface="Arial"/>
              </a:rPr>
              <a:t>No fault tolerance across machines</a:t>
            </a:r>
          </a:p>
        </p:txBody>
      </p:sp>
      <p:sp>
        <p:nvSpPr>
          <p:cNvPr id="17" name="TextBox 16"/>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results/bigdata/RUN_LOG.md (application IDs, versions, pytest); results/bigdata/streaming_kafka_spark.json (environment); DEVIATIONS.md D8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SPARK ETL PARITY</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Spark ETL on YARN reproduces the pandas pipeline on all 8 tables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19</a:t>
            </a:r>
          </a:p>
        </p:txBody>
      </p:sp>
      <p:graphicFrame>
        <p:nvGraphicFramePr>
          <p:cNvPr id="8" name="Table 7"/>
          <p:cNvGraphicFramePr>
            <a:graphicFrameLocks noGrp="1"/>
          </p:cNvGraphicFramePr>
          <p:nvPr/>
        </p:nvGraphicFramePr>
        <p:xfrm>
          <a:off x="548640" y="1783080"/>
          <a:ext cx="6949440" cy="4160520"/>
        </p:xfrm>
        <a:graphic>
          <a:graphicData uri="http://schemas.openxmlformats.org/drawingml/2006/table">
            <a:tbl>
              <a:tblPr firstRow="1" bandRow="1">
                <a:tableStyleId>{5940675A-B579-460E-94D1-54222C63F5DA}</a:tableStyleId>
              </a:tblPr>
              <a:tblGrid>
                <a:gridCol w="3566160"/>
                <a:gridCol w="2194560"/>
                <a:gridCol w="1188720"/>
              </a:tblGrid>
              <a:tr h="462280">
                <a:tc>
                  <a:txBody>
                    <a:bodyPr wrap="square"/>
                    <a:lstStyle/>
                    <a:p>
                      <a:r>
                        <a:rPr sz="1300" b="1">
                          <a:solidFill>
                            <a:srgbClr val="F5A524"/>
                          </a:solidFill>
                          <a:latin typeface="Arial"/>
                        </a:rPr>
                        <a:t>Table (2015–2022)</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Rows (pandas = Spark)</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Result</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Silver · city hourly</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1,402,560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Silver · city daily</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58,420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Gold · climatology hourly T2m</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175,680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Gold · climatology hourly precip.</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175,680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Gold · climatology daily Tmax</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7,320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Gold · flash-flood 6-h labels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233,760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Gold · daily features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58,420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462280">
                <a:tc>
                  <a:txBody>
                    <a:bodyPr wrap="square"/>
                    <a:lstStyle/>
                    <a:p>
                      <a:r>
                        <a:rPr sz="1300" b="1">
                          <a:solidFill>
                            <a:srgbClr val="E8EDF5"/>
                          </a:solidFill>
                          <a:latin typeface="Arial"/>
                        </a:rPr>
                        <a:t>Gold · hourly features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1,402,560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22C55E"/>
                          </a:solidFill>
                          <a:latin typeface="Arial"/>
                        </a:rPr>
                        <a:t>PASS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Rounded Rectangle 8"/>
          <p:cNvSpPr/>
          <p:nvPr/>
        </p:nvSpPr>
        <p:spPr>
          <a:xfrm>
            <a:off x="7726679" y="1783080"/>
            <a:ext cx="391363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26679" y="1947672"/>
            <a:ext cx="54864" cy="95097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1911095"/>
            <a:ext cx="3547872" cy="561340"/>
          </a:xfrm>
          <a:prstGeom prst="rect">
            <a:avLst/>
          </a:prstGeom>
          <a:noFill/>
        </p:spPr>
        <p:txBody>
          <a:bodyPr wrap="square" lIns="18288" rIns="18288" tIns="18288" bIns="18288" anchor="t">
            <a:spAutoFit/>
          </a:bodyPr>
          <a:lstStyle/>
          <a:p>
            <a:pPr algn="l">
              <a:lnSpc>
                <a:spcPct val="108000"/>
              </a:lnSpc>
            </a:pPr>
            <a:r>
              <a:rPr sz="3400" b="1" i="0">
                <a:solidFill>
                  <a:srgbClr val="22C55E"/>
                </a:solidFill>
                <a:latin typeface="Arial"/>
              </a:rPr>
              <a:t>8 / 8</a:t>
            </a:r>
          </a:p>
        </p:txBody>
      </p:sp>
      <p:sp>
        <p:nvSpPr>
          <p:cNvPr id="12" name="TextBox 11"/>
          <p:cNvSpPr txBox="1"/>
          <p:nvPr/>
        </p:nvSpPr>
        <p:spPr>
          <a:xfrm>
            <a:off x="7955279" y="2527300"/>
            <a:ext cx="3547872" cy="44449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tables match: same keys, labels exact</a:t>
            </a:r>
          </a:p>
        </p:txBody>
      </p:sp>
      <p:sp>
        <p:nvSpPr>
          <p:cNvPr id="13" name="Rounded Rectangle 12"/>
          <p:cNvSpPr/>
          <p:nvPr/>
        </p:nvSpPr>
        <p:spPr>
          <a:xfrm>
            <a:off x="7726679" y="3200400"/>
            <a:ext cx="391363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26679" y="3364992"/>
            <a:ext cx="54864" cy="9509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3328416"/>
            <a:ext cx="3547872"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1.7 × 10⁻⁴</a:t>
            </a:r>
          </a:p>
        </p:txBody>
      </p:sp>
      <p:sp>
        <p:nvSpPr>
          <p:cNvPr id="16" name="TextBox 15"/>
          <p:cNvSpPr txBox="1"/>
          <p:nvPr/>
        </p:nvSpPr>
        <p:spPr>
          <a:xfrm>
            <a:off x="7955279" y="3878580"/>
            <a:ext cx="354787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largest float difference (heat index, float32)</a:t>
            </a:r>
          </a:p>
        </p:txBody>
      </p:sp>
      <p:sp>
        <p:nvSpPr>
          <p:cNvPr id="17" name="Rounded Rectangle 16"/>
          <p:cNvSpPr/>
          <p:nvPr/>
        </p:nvSpPr>
        <p:spPr>
          <a:xfrm>
            <a:off x="7726679" y="4617720"/>
            <a:ext cx="3913632" cy="132588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26679" y="4782312"/>
            <a:ext cx="54864" cy="99669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79" y="4745736"/>
            <a:ext cx="3547872" cy="495300"/>
          </a:xfrm>
          <a:prstGeom prst="rect">
            <a:avLst/>
          </a:prstGeom>
          <a:noFill/>
        </p:spPr>
        <p:txBody>
          <a:bodyPr wrap="square" lIns="18288" rIns="18288" tIns="18288" bIns="18288" anchor="t">
            <a:spAutoFit/>
          </a:bodyPr>
          <a:lstStyle/>
          <a:p>
            <a:pPr algn="l">
              <a:lnSpc>
                <a:spcPct val="108000"/>
              </a:lnSpc>
            </a:pPr>
            <a:r>
              <a:rPr sz="3000" b="1" i="0">
                <a:solidFill>
                  <a:srgbClr val="3B82F6"/>
                </a:solidFill>
                <a:latin typeface="Arial"/>
              </a:rPr>
              <a:t>241.8 s</a:t>
            </a:r>
          </a:p>
        </p:txBody>
      </p:sp>
      <p:sp>
        <p:nvSpPr>
          <p:cNvPr id="20" name="TextBox 19"/>
          <p:cNvSpPr txBox="1"/>
          <p:nvPr/>
        </p:nvSpPr>
        <p:spPr>
          <a:xfrm>
            <a:off x="7955279" y="5295900"/>
            <a:ext cx="3547872" cy="55625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Spark ETL wall time on YARN (1.40 M hourly rows)</a:t>
            </a:r>
          </a:p>
        </p:txBody>
      </p:sp>
      <p:sp>
        <p:nvSpPr>
          <p:cNvPr id="21" name="TextBox 20"/>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results/bigdata/parity_2015_2022.json (atol 1e-3, rtol 1e-4); spark_etl_parity_2015_2022.json; DEVIATIONS.md D8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E5484D"/>
                </a:solidFill>
                <a:latin typeface="Arial"/>
              </a:rPr>
              <a:t>05</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Results</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Strong baselines are hard to beat. Deep learning wins for hourly and gridded temperature — not for daily Tmax or next-day heatwaves.</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E5484D"/>
                </a:solidFill>
                <a:latin typeface="Arial"/>
              </a:rPr>
              <a:t>RESULTS · DAILY TMAX (RQ2)</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Daily Tmax: SARIMA matches or beats the LSTM at every lead</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21</a:t>
            </a:r>
          </a:p>
        </p:txBody>
      </p:sp>
      <p:pic>
        <p:nvPicPr>
          <p:cNvPr id="8" name="Picture 7" descr="daily_tmax.png"/>
          <p:cNvPicPr>
            <a:picLocks noChangeAspect="1"/>
          </p:cNvPicPr>
          <p:nvPr/>
        </p:nvPicPr>
        <p:blipFill>
          <a:blip r:embed="rId2"/>
          <a:stretch>
            <a:fillRect/>
          </a:stretch>
        </p:blipFill>
        <p:spPr>
          <a:xfrm>
            <a:off x="548640" y="1691640"/>
            <a:ext cx="6949440" cy="3995928"/>
          </a:xfrm>
          <a:prstGeom prst="rect">
            <a:avLst/>
          </a:prstGeom>
        </p:spPr>
      </p:pic>
      <p:sp>
        <p:nvSpPr>
          <p:cNvPr id="9" name="TextBox 8"/>
          <p:cNvSpPr txBox="1"/>
          <p:nvPr/>
        </p:nvSpPr>
        <p:spPr>
          <a:xfrm>
            <a:off x="7772400" y="1828800"/>
            <a:ext cx="3886200" cy="4114800"/>
          </a:xfrm>
          <a:prstGeom prst="rect">
            <a:avLst/>
          </a:prstGeom>
          <a:noFill/>
        </p:spPr>
        <p:txBody>
          <a:bodyPr wrap="square" lIns="18288" rIns="18288" tIns="18288" bIns="18288">
            <a:spAutoFit/>
          </a:bodyPr>
          <a:lstStyle/>
          <a:p>
            <a:pPr>
              <a:lnSpc>
                <a:spcPct val="105000"/>
              </a:lnSpc>
              <a:spcAft>
                <a:spcPts val="1200"/>
              </a:spcAft>
            </a:pPr>
            <a:r>
              <a:rPr sz="1050">
                <a:solidFill>
                  <a:srgbClr val="E5484D"/>
                </a:solidFill>
                <a:latin typeface="Arial"/>
              </a:rPr>
              <a:t>■  </a:t>
            </a:r>
            <a:r>
              <a:rPr sz="1450" b="1">
                <a:solidFill>
                  <a:srgbClr val="E8EDF5"/>
                </a:solidFill>
                <a:latin typeface="Arial"/>
              </a:rPr>
              <a:t>+1 day RMSE: </a:t>
            </a:r>
            <a:r>
              <a:rPr sz="1450" b="0">
                <a:solidFill>
                  <a:srgbClr val="E8EDF5"/>
                </a:solidFill>
                <a:latin typeface="Arial"/>
              </a:rPr>
              <a:t>XGBoost 1.822, SARIMA 1.834, LSTM 1.871, persistence 1.881 °C</a:t>
            </a:r>
          </a:p>
          <a:p>
            <a:pPr>
              <a:lnSpc>
                <a:spcPct val="105000"/>
              </a:lnSpc>
              <a:spcAft>
                <a:spcPts val="1200"/>
              </a:spcAft>
            </a:pPr>
            <a:r>
              <a:rPr sz="1050">
                <a:solidFill>
                  <a:srgbClr val="E5484D"/>
                </a:solidFill>
                <a:latin typeface="Arial"/>
              </a:rPr>
              <a:t>■  </a:t>
            </a:r>
            <a:r>
              <a:rPr sz="1450" b="1">
                <a:solidFill>
                  <a:srgbClr val="E8EDF5"/>
                </a:solidFill>
                <a:latin typeface="Arial"/>
              </a:rPr>
              <a:t>LSTM beats persistence significantly from +3 days </a:t>
            </a:r>
            <a:r>
              <a:rPr sz="1450" b="0">
                <a:solidFill>
                  <a:srgbClr val="E8EDF5"/>
                </a:solidFill>
                <a:latin typeface="Arial"/>
              </a:rPr>
              <a:t>(Holm-corrected DM test)</a:t>
            </a:r>
          </a:p>
          <a:p>
            <a:pPr>
              <a:lnSpc>
                <a:spcPct val="105000"/>
              </a:lnSpc>
              <a:spcAft>
                <a:spcPts val="1200"/>
              </a:spcAft>
            </a:pPr>
            <a:r>
              <a:rPr sz="1050">
                <a:solidFill>
                  <a:srgbClr val="E5484D"/>
                </a:solidFill>
                <a:latin typeface="Arial"/>
              </a:rPr>
              <a:t>■  </a:t>
            </a:r>
            <a:r>
              <a:rPr sz="1450" b="1">
                <a:solidFill>
                  <a:srgbClr val="E8EDF5"/>
                </a:solidFill>
                <a:latin typeface="Arial"/>
              </a:rPr>
              <a:t>Precipitation: </a:t>
            </a:r>
            <a:r>
              <a:rPr sz="1450" b="0">
                <a:solidFill>
                  <a:srgbClr val="E8EDF5"/>
                </a:solidFill>
                <a:latin typeface="Arial"/>
              </a:rPr>
              <a:t>LSTM gives small significant gains at 3–7 days; no model forecasts heavy daily rain usefully</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results/tables/leaderboard_daily.csv, significance_daily.csv; RESULTS.md (test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E5484D"/>
                </a:solidFill>
                <a:latin typeface="Arial"/>
              </a:rPr>
              <a:t>RESULTS · HOURLY T2M (RQ2)</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Hourly LSTM beats XGBoost and persistence for temperature at every lead</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22</a:t>
            </a:r>
          </a:p>
        </p:txBody>
      </p:sp>
      <p:pic>
        <p:nvPicPr>
          <p:cNvPr id="8" name="Picture 7" descr="hourly_t2m.png"/>
          <p:cNvPicPr>
            <a:picLocks noChangeAspect="1"/>
          </p:cNvPicPr>
          <p:nvPr/>
        </p:nvPicPr>
        <p:blipFill>
          <a:blip r:embed="rId2"/>
          <a:stretch>
            <a:fillRect/>
          </a:stretch>
        </p:blipFill>
        <p:spPr>
          <a:xfrm>
            <a:off x="548640" y="1691640"/>
            <a:ext cx="6949440" cy="3995928"/>
          </a:xfrm>
          <a:prstGeom prst="rect">
            <a:avLst/>
          </a:prstGeom>
        </p:spPr>
      </p:pic>
      <p:sp>
        <p:nvSpPr>
          <p:cNvPr id="9" name="Rounded Rectangle 8"/>
          <p:cNvSpPr/>
          <p:nvPr/>
        </p:nvSpPr>
        <p:spPr>
          <a:xfrm>
            <a:off x="7772400" y="1783080"/>
            <a:ext cx="386791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0" y="1947672"/>
            <a:ext cx="54864" cy="9509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911095"/>
            <a:ext cx="3502152"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0.634 °C</a:t>
            </a:r>
          </a:p>
        </p:txBody>
      </p:sp>
      <p:sp>
        <p:nvSpPr>
          <p:cNvPr id="12" name="TextBox 11"/>
          <p:cNvSpPr txBox="1"/>
          <p:nvPr/>
        </p:nvSpPr>
        <p:spPr>
          <a:xfrm>
            <a:off x="8001000" y="2461260"/>
            <a:ext cx="350215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LSTM RMSE at +1 h (XGBoost 0.679, persistence 1.558)</a:t>
            </a:r>
          </a:p>
        </p:txBody>
      </p:sp>
      <p:sp>
        <p:nvSpPr>
          <p:cNvPr id="13" name="Rounded Rectangle 12"/>
          <p:cNvSpPr/>
          <p:nvPr/>
        </p:nvSpPr>
        <p:spPr>
          <a:xfrm>
            <a:off x="7772400" y="3200400"/>
            <a:ext cx="386791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0" y="3364992"/>
            <a:ext cx="54864" cy="9509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328416"/>
            <a:ext cx="3502152"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1.372 °C</a:t>
            </a:r>
          </a:p>
        </p:txBody>
      </p:sp>
      <p:sp>
        <p:nvSpPr>
          <p:cNvPr id="16" name="TextBox 15"/>
          <p:cNvSpPr txBox="1"/>
          <p:nvPr/>
        </p:nvSpPr>
        <p:spPr>
          <a:xfrm>
            <a:off x="8001000" y="3878580"/>
            <a:ext cx="350215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LSTM RMSE at +6 h (XGBoost 1.469, persistence 5.783)</a:t>
            </a:r>
          </a:p>
        </p:txBody>
      </p:sp>
      <p:sp>
        <p:nvSpPr>
          <p:cNvPr id="17" name="Rounded Rectangle 16"/>
          <p:cNvSpPr/>
          <p:nvPr/>
        </p:nvSpPr>
        <p:spPr>
          <a:xfrm>
            <a:off x="7772400" y="4617720"/>
            <a:ext cx="386791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4782312"/>
            <a:ext cx="54864" cy="9509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4745736"/>
            <a:ext cx="3502152"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1.756 °C</a:t>
            </a:r>
          </a:p>
        </p:txBody>
      </p:sp>
      <p:sp>
        <p:nvSpPr>
          <p:cNvPr id="20" name="TextBox 19"/>
          <p:cNvSpPr txBox="1"/>
          <p:nvPr/>
        </p:nvSpPr>
        <p:spPr>
          <a:xfrm>
            <a:off x="8001000" y="5295900"/>
            <a:ext cx="350215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LSTM RMSE at +24 h (XGBoost 1.779, persistence 1.938)</a:t>
            </a:r>
          </a:p>
        </p:txBody>
      </p:sp>
      <p:sp>
        <p:nvSpPr>
          <p:cNvPr id="21" name="TextBox 20"/>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results/tables/leaderboard_hourly.csv; RESULTS.md; thesis Ch. 6 RQ2 answer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E5484D"/>
                </a:solidFill>
                <a:latin typeface="Arial"/>
              </a:rPr>
              <a:t>RESULTS · GRIDDED CONVLSTM (RQ2)</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ConvLSTM beats persistence and climatology at every lead on the 2° lattice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23</a:t>
            </a:r>
          </a:p>
        </p:txBody>
      </p:sp>
      <p:pic>
        <p:nvPicPr>
          <p:cNvPr id="8" name="Picture 7" descr="convlstm.png"/>
          <p:cNvPicPr>
            <a:picLocks noChangeAspect="1"/>
          </p:cNvPicPr>
          <p:nvPr/>
        </p:nvPicPr>
        <p:blipFill>
          <a:blip r:embed="rId2"/>
          <a:stretch>
            <a:fillRect/>
          </a:stretch>
        </p:blipFill>
        <p:spPr>
          <a:xfrm>
            <a:off x="548640" y="1691640"/>
            <a:ext cx="7406640" cy="3456432"/>
          </a:xfrm>
          <a:prstGeom prst="rect">
            <a:avLst/>
          </a:prstGeom>
        </p:spPr>
      </p:pic>
      <p:sp>
        <p:nvSpPr>
          <p:cNvPr id="9" name="TextBox 8"/>
          <p:cNvSpPr txBox="1"/>
          <p:nvPr/>
        </p:nvSpPr>
        <p:spPr>
          <a:xfrm>
            <a:off x="8183879" y="1828800"/>
            <a:ext cx="3474720" cy="4023360"/>
          </a:xfrm>
          <a:prstGeom prst="rect">
            <a:avLst/>
          </a:prstGeom>
          <a:noFill/>
        </p:spPr>
        <p:txBody>
          <a:bodyPr wrap="square" lIns="18288" rIns="18288" tIns="18288" bIns="18288">
            <a:spAutoFit/>
          </a:bodyPr>
          <a:lstStyle/>
          <a:p>
            <a:pPr>
              <a:lnSpc>
                <a:spcPct val="105000"/>
              </a:lnSpc>
              <a:spcAft>
                <a:spcPts val="1200"/>
              </a:spcAft>
            </a:pPr>
            <a:r>
              <a:rPr sz="1050">
                <a:solidFill>
                  <a:srgbClr val="3B82F6"/>
                </a:solidFill>
                <a:latin typeface="Arial"/>
              </a:rPr>
              <a:t>■  </a:t>
            </a:r>
            <a:r>
              <a:rPr sz="1450" b="1">
                <a:solidFill>
                  <a:srgbClr val="E8EDF5"/>
                </a:solidFill>
                <a:latin typeface="Arial"/>
              </a:rPr>
              <a:t>T2m +1 h: </a:t>
            </a:r>
            <a:r>
              <a:rPr sz="1450" b="0">
                <a:solidFill>
                  <a:srgbClr val="E8EDF5"/>
                </a:solidFill>
                <a:latin typeface="Arial"/>
              </a:rPr>
              <a:t>1.262 vs persistence 1.600 °C</a:t>
            </a:r>
          </a:p>
          <a:p>
            <a:pPr>
              <a:lnSpc>
                <a:spcPct val="105000"/>
              </a:lnSpc>
              <a:spcAft>
                <a:spcPts val="1200"/>
              </a:spcAft>
            </a:pPr>
            <a:r>
              <a:rPr sz="1050">
                <a:solidFill>
                  <a:srgbClr val="3B82F6"/>
                </a:solidFill>
                <a:latin typeface="Arial"/>
              </a:rPr>
              <a:t>■  </a:t>
            </a:r>
            <a:r>
              <a:rPr sz="1450" b="1">
                <a:solidFill>
                  <a:srgbClr val="E8EDF5"/>
                </a:solidFill>
                <a:latin typeface="Arial"/>
              </a:rPr>
              <a:t>T2m +6 h: </a:t>
            </a:r>
            <a:r>
              <a:rPr sz="1450" b="0">
                <a:solidFill>
                  <a:srgbClr val="E8EDF5"/>
                </a:solidFill>
                <a:latin typeface="Arial"/>
              </a:rPr>
              <a:t>2.287 vs persistence 6.171 °C</a:t>
            </a:r>
          </a:p>
          <a:p>
            <a:pPr>
              <a:lnSpc>
                <a:spcPct val="105000"/>
              </a:lnSpc>
              <a:spcAft>
                <a:spcPts val="1200"/>
              </a:spcAft>
            </a:pPr>
            <a:r>
              <a:rPr sz="1050">
                <a:solidFill>
                  <a:srgbClr val="3B82F6"/>
                </a:solidFill>
                <a:latin typeface="Arial"/>
              </a:rPr>
              <a:t>■  </a:t>
            </a:r>
            <a:r>
              <a:rPr sz="1450" b="1">
                <a:solidFill>
                  <a:srgbClr val="E8EDF5"/>
                </a:solidFill>
                <a:latin typeface="Arial"/>
              </a:rPr>
              <a:t>Precip. +1 h: </a:t>
            </a:r>
            <a:r>
              <a:rPr sz="1450" b="0">
                <a:solidFill>
                  <a:srgbClr val="E8EDF5"/>
                </a:solidFill>
                <a:latin typeface="Arial"/>
              </a:rPr>
              <a:t>0.226 vs 0.229 mm/h — marginal</a:t>
            </a:r>
          </a:p>
          <a:p>
            <a:pPr>
              <a:lnSpc>
                <a:spcPct val="105000"/>
              </a:lnSpc>
              <a:spcAft>
                <a:spcPts val="1200"/>
              </a:spcAft>
            </a:pPr>
            <a:r>
              <a:rPr sz="1050">
                <a:solidFill>
                  <a:srgbClr val="3B82F6"/>
                </a:solidFill>
                <a:latin typeface="Arial"/>
              </a:rPr>
              <a:t>■  </a:t>
            </a:r>
            <a:r>
              <a:rPr sz="1450" b="1">
                <a:solidFill>
                  <a:srgbClr val="F5A524"/>
                </a:solidFill>
                <a:latin typeface="Arial"/>
              </a:rPr>
              <a:t>Caveat: </a:t>
            </a:r>
            <a:r>
              <a:rPr sz="1450" b="0">
                <a:solidFill>
                  <a:srgbClr val="E8EDF5"/>
                </a:solidFill>
                <a:latin typeface="Arial"/>
              </a:rPr>
              <a:t>CPU prototype, 2° grid, ~6 epochs, one seed</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results/tables/grid_convlstm_test.csv (490,224 samples per lead); DEVIATIONS.md D2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RESULTS · HEATWAVE DETECTION (RQ3)</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Persistence detects next-day heatwaves twice as well as XGBoost</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24</a:t>
            </a:r>
          </a:p>
        </p:txBody>
      </p:sp>
      <p:pic>
        <p:nvPicPr>
          <p:cNvPr id="8" name="Picture 7" descr="heatwave_csi.png"/>
          <p:cNvPicPr>
            <a:picLocks noChangeAspect="1"/>
          </p:cNvPicPr>
          <p:nvPr/>
        </p:nvPicPr>
        <p:blipFill>
          <a:blip r:embed="rId2"/>
          <a:stretch>
            <a:fillRect/>
          </a:stretch>
        </p:blipFill>
        <p:spPr>
          <a:xfrm>
            <a:off x="548640" y="1691640"/>
            <a:ext cx="6949440" cy="3822192"/>
          </a:xfrm>
          <a:prstGeom prst="rect">
            <a:avLst/>
          </a:prstGeom>
        </p:spPr>
      </p:pic>
      <p:sp>
        <p:nvSpPr>
          <p:cNvPr id="9" name="TextBox 8"/>
          <p:cNvSpPr txBox="1"/>
          <p:nvPr/>
        </p:nvSpPr>
        <p:spPr>
          <a:xfrm>
            <a:off x="7772400" y="1828800"/>
            <a:ext cx="3886200" cy="4114800"/>
          </a:xfrm>
          <a:prstGeom prst="rect">
            <a:avLst/>
          </a:prstGeom>
          <a:noFill/>
        </p:spPr>
        <p:txBody>
          <a:bodyPr wrap="square" lIns="18288" rIns="18288" tIns="18288" bIns="18288">
            <a:spAutoFit/>
          </a:bodyPr>
          <a:lstStyle/>
          <a:p>
            <a:pPr>
              <a:lnSpc>
                <a:spcPct val="105000"/>
              </a:lnSpc>
              <a:spcAft>
                <a:spcPts val="1200"/>
              </a:spcAft>
            </a:pPr>
            <a:r>
              <a:rPr sz="1050">
                <a:solidFill>
                  <a:srgbClr val="F5A524"/>
                </a:solidFill>
                <a:latin typeface="Arial"/>
              </a:rPr>
              <a:t>■  </a:t>
            </a:r>
            <a:r>
              <a:rPr sz="1450" b="1">
                <a:solidFill>
                  <a:srgbClr val="F5A524"/>
                </a:solidFill>
                <a:latin typeface="Arial"/>
              </a:rPr>
              <a:t>Persistence CSI 0.717 </a:t>
            </a:r>
            <a:r>
              <a:rPr sz="1450" b="0">
                <a:solidFill>
                  <a:srgbClr val="E8EDF5"/>
                </a:solidFill>
                <a:latin typeface="Arial"/>
              </a:rPr>
              <a:t>vs XGBoost 0.356 (ROC-AUC 0.943)</a:t>
            </a:r>
          </a:p>
          <a:p>
            <a:pPr>
              <a:lnSpc>
                <a:spcPct val="105000"/>
              </a:lnSpc>
              <a:spcAft>
                <a:spcPts val="1200"/>
              </a:spcAft>
            </a:pPr>
            <a:r>
              <a:rPr sz="1050">
                <a:solidFill>
                  <a:srgbClr val="F5A524"/>
                </a:solidFill>
                <a:latin typeface="Arial"/>
              </a:rPr>
              <a:t>■  </a:t>
            </a:r>
            <a:r>
              <a:rPr sz="1450" b="1">
                <a:solidFill>
                  <a:srgbClr val="E8EDF5"/>
                </a:solidFill>
                <a:latin typeface="Arial"/>
              </a:rPr>
              <a:t>Spark MLlib GBT: </a:t>
            </a:r>
            <a:r>
              <a:rPr sz="1450" b="0">
                <a:solidFill>
                  <a:srgbClr val="E8EDF5"/>
                </a:solidFill>
                <a:latin typeface="Arial"/>
              </a:rPr>
              <a:t>CSI 0.367 — on par with XGBoost</a:t>
            </a:r>
          </a:p>
          <a:p>
            <a:pPr>
              <a:lnSpc>
                <a:spcPct val="105000"/>
              </a:lnSpc>
              <a:spcAft>
                <a:spcPts val="1200"/>
              </a:spcAft>
            </a:pPr>
            <a:r>
              <a:rPr sz="1050">
                <a:solidFill>
                  <a:srgbClr val="F5A524"/>
                </a:solidFill>
                <a:latin typeface="Arial"/>
              </a:rPr>
              <a:t>■  </a:t>
            </a:r>
            <a:r>
              <a:rPr sz="1450" b="1">
                <a:solidFill>
                  <a:srgbClr val="E8EDF5"/>
                </a:solidFill>
                <a:latin typeface="Arial"/>
              </a:rPr>
              <a:t>+3 days: </a:t>
            </a:r>
            <a:r>
              <a:rPr sz="1450" b="0">
                <a:solidFill>
                  <a:srgbClr val="E8EDF5"/>
                </a:solidFill>
                <a:latin typeface="Arial"/>
              </a:rPr>
              <a:t>XGBoost issues no alerts at thresholds tuned on milder 2021 (CSI 0)</a:t>
            </a:r>
          </a:p>
          <a:p>
            <a:pPr>
              <a:lnSpc>
                <a:spcPct val="105000"/>
              </a:lnSpc>
              <a:spcAft>
                <a:spcPts val="1200"/>
              </a:spcAft>
            </a:pPr>
            <a:r>
              <a:rPr sz="1050">
                <a:solidFill>
                  <a:srgbClr val="F5A524"/>
                </a:solidFill>
                <a:latin typeface="Arial"/>
              </a:rPr>
              <a:t>■  </a:t>
            </a:r>
            <a:r>
              <a:rPr sz="1450" b="1">
                <a:solidFill>
                  <a:srgbClr val="E8EDF5"/>
                </a:solidFill>
                <a:latin typeface="Arial"/>
              </a:rPr>
              <a:t>Lesson: </a:t>
            </a:r>
            <a:r>
              <a:rPr sz="1450" b="0">
                <a:solidFill>
                  <a:srgbClr val="E8EDF5"/>
                </a:solidFill>
                <a:latin typeface="Arial"/>
              </a:rPr>
              <a:t>heatwaves persist — the baseline sets the bar</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results/tables/detection_test.csv; results/bigdata/mllib_baseline.json (test 2022, 551 positives of 7,280)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14B8A6"/>
                </a:solidFill>
                <a:latin typeface="Arial"/>
              </a:rPr>
              <a:t>RESULTS · FLASH-FLOOD PROXY (RQ3)</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The flood proxy +6 h CSI of 0.609 is an upper bound and not a forecast</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25</a:t>
            </a:r>
          </a:p>
        </p:txBody>
      </p:sp>
      <p:pic>
        <p:nvPicPr>
          <p:cNvPr id="8" name="Picture 7" descr="flood_csi.png"/>
          <p:cNvPicPr>
            <a:picLocks noChangeAspect="1"/>
          </p:cNvPicPr>
          <p:nvPr/>
        </p:nvPicPr>
        <p:blipFill>
          <a:blip r:embed="rId2"/>
          <a:stretch>
            <a:fillRect/>
          </a:stretch>
        </p:blipFill>
        <p:spPr>
          <a:xfrm>
            <a:off x="548640" y="1691640"/>
            <a:ext cx="6949440" cy="3822192"/>
          </a:xfrm>
          <a:prstGeom prst="rect">
            <a:avLst/>
          </a:prstGeom>
        </p:spPr>
      </p:pic>
      <p:sp>
        <p:nvSpPr>
          <p:cNvPr id="9" name="TextBox 8"/>
          <p:cNvSpPr txBox="1"/>
          <p:nvPr/>
        </p:nvSpPr>
        <p:spPr>
          <a:xfrm>
            <a:off x="7772400" y="1828800"/>
            <a:ext cx="3886200" cy="4114800"/>
          </a:xfrm>
          <a:prstGeom prst="rect">
            <a:avLst/>
          </a:prstGeom>
          <a:noFill/>
        </p:spPr>
        <p:txBody>
          <a:bodyPr wrap="square" lIns="18288" rIns="18288" tIns="18288" bIns="18288">
            <a:spAutoFit/>
          </a:bodyPr>
          <a:lstStyle/>
          <a:p>
            <a:pPr>
              <a:lnSpc>
                <a:spcPct val="105000"/>
              </a:lnSpc>
              <a:spcAft>
                <a:spcPts val="1200"/>
              </a:spcAft>
            </a:pPr>
            <a:r>
              <a:rPr sz="1050">
                <a:solidFill>
                  <a:srgbClr val="14B8A6"/>
                </a:solidFill>
                <a:latin typeface="Arial"/>
              </a:rPr>
              <a:t>■  </a:t>
            </a:r>
            <a:r>
              <a:rPr sz="1450" b="1">
                <a:solidFill>
                  <a:srgbClr val="E8EDF5"/>
                </a:solidFill>
                <a:latin typeface="Arial"/>
              </a:rPr>
              <a:t>+6 h: </a:t>
            </a:r>
            <a:r>
              <a:rPr sz="1450" b="0">
                <a:solidFill>
                  <a:srgbClr val="E8EDF5"/>
                </a:solidFill>
                <a:latin typeface="Arial"/>
              </a:rPr>
              <a:t>XGBoost CSI 0.609 vs persistence 0.585; PR-AUC 0.814</a:t>
            </a:r>
          </a:p>
          <a:p>
            <a:pPr>
              <a:lnSpc>
                <a:spcPct val="105000"/>
              </a:lnSpc>
              <a:spcAft>
                <a:spcPts val="1200"/>
              </a:spcAft>
            </a:pPr>
            <a:r>
              <a:rPr sz="1050">
                <a:solidFill>
                  <a:srgbClr val="14B8A6"/>
                </a:solidFill>
                <a:latin typeface="Arial"/>
              </a:rPr>
              <a:t>■  </a:t>
            </a:r>
            <a:r>
              <a:rPr sz="1450" b="1">
                <a:solidFill>
                  <a:srgbClr val="F5A524"/>
                </a:solidFill>
                <a:latin typeface="Arial"/>
              </a:rPr>
              <a:t>Window overlap: </a:t>
            </a:r>
            <a:r>
              <a:rPr sz="1450" b="0">
                <a:solidFill>
                  <a:srgbClr val="E8EDF5"/>
                </a:solidFill>
                <a:latin typeface="Arial"/>
              </a:rPr>
              <a:t>target shares 18 of 24 h with rain already observed</a:t>
            </a:r>
          </a:p>
          <a:p>
            <a:pPr>
              <a:lnSpc>
                <a:spcPct val="105000"/>
              </a:lnSpc>
              <a:spcAft>
                <a:spcPts val="1200"/>
              </a:spcAft>
            </a:pPr>
            <a:r>
              <a:rPr sz="1050">
                <a:solidFill>
                  <a:srgbClr val="14B8A6"/>
                </a:solidFill>
                <a:latin typeface="Arial"/>
              </a:rPr>
              <a:t>■  </a:t>
            </a:r>
            <a:r>
              <a:rPr sz="1450" b="1">
                <a:solidFill>
                  <a:srgbClr val="E8EDF5"/>
                </a:solidFill>
                <a:latin typeface="Arial"/>
              </a:rPr>
              <a:t>+24 h (honest forecast): </a:t>
            </a:r>
            <a:r>
              <a:rPr sz="1450" b="0">
                <a:solidFill>
                  <a:srgbClr val="E8EDF5"/>
                </a:solidFill>
                <a:latin typeface="Arial"/>
              </a:rPr>
              <a:t>CSI 0 at tuned threshold; ROC-AUC 0.939</a:t>
            </a:r>
          </a:p>
          <a:p>
            <a:pPr>
              <a:lnSpc>
                <a:spcPct val="105000"/>
              </a:lnSpc>
              <a:spcAft>
                <a:spcPts val="1200"/>
              </a:spcAft>
            </a:pPr>
            <a:r>
              <a:rPr sz="1050">
                <a:solidFill>
                  <a:srgbClr val="14B8A6"/>
                </a:solidFill>
                <a:latin typeface="Arial"/>
              </a:rPr>
              <a:t>■  </a:t>
            </a:r>
            <a:r>
              <a:rPr sz="1450" b="1">
                <a:solidFill>
                  <a:srgbClr val="E8EDF5"/>
                </a:solidFill>
                <a:latin typeface="Arial"/>
              </a:rPr>
              <a:t>Labels are rainfall proxies, </a:t>
            </a:r>
            <a:r>
              <a:rPr sz="1450" b="0">
                <a:solidFill>
                  <a:srgbClr val="E8EDF5"/>
                </a:solidFill>
                <a:latin typeface="Arial"/>
              </a:rPr>
              <a:t>not observed floods</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results/tables/detection_test.csv (405 positive windows in 2022); DEVIATIONS.md D1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RESULTS · SPARK MLLIB ON YARN</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Spark MLlib matches XGBoost for heatwave detection but not for Tmax regression</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26</a:t>
            </a:r>
          </a:p>
        </p:txBody>
      </p:sp>
      <p:pic>
        <p:nvPicPr>
          <p:cNvPr id="8" name="Picture 7" descr="mllib_rmse.png"/>
          <p:cNvPicPr>
            <a:picLocks noChangeAspect="1"/>
          </p:cNvPicPr>
          <p:nvPr/>
        </p:nvPicPr>
        <p:blipFill>
          <a:blip r:embed="rId2"/>
          <a:stretch>
            <a:fillRect/>
          </a:stretch>
        </p:blipFill>
        <p:spPr>
          <a:xfrm>
            <a:off x="548640" y="1691640"/>
            <a:ext cx="6400800" cy="3840480"/>
          </a:xfrm>
          <a:prstGeom prst="rect">
            <a:avLst/>
          </a:prstGeom>
        </p:spPr>
      </p:pic>
      <p:sp>
        <p:nvSpPr>
          <p:cNvPr id="9" name="Rounded Rectangle 8"/>
          <p:cNvSpPr/>
          <p:nvPr/>
        </p:nvSpPr>
        <p:spPr>
          <a:xfrm>
            <a:off x="7269480" y="1783080"/>
            <a:ext cx="437083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947672"/>
            <a:ext cx="54864" cy="95097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1911095"/>
            <a:ext cx="4005072" cy="495300"/>
          </a:xfrm>
          <a:prstGeom prst="rect">
            <a:avLst/>
          </a:prstGeom>
          <a:noFill/>
        </p:spPr>
        <p:txBody>
          <a:bodyPr wrap="square" lIns="18288" rIns="18288" tIns="18288" bIns="18288" anchor="t">
            <a:spAutoFit/>
          </a:bodyPr>
          <a:lstStyle/>
          <a:p>
            <a:pPr algn="l">
              <a:lnSpc>
                <a:spcPct val="108000"/>
              </a:lnSpc>
            </a:pPr>
            <a:r>
              <a:rPr sz="3000" b="1" i="0">
                <a:solidFill>
                  <a:srgbClr val="E5484D"/>
                </a:solidFill>
                <a:latin typeface="Arial"/>
              </a:rPr>
              <a:t>1.926 °C</a:t>
            </a:r>
          </a:p>
        </p:txBody>
      </p:sp>
      <p:sp>
        <p:nvSpPr>
          <p:cNvPr id="12" name="TextBox 11"/>
          <p:cNvSpPr txBox="1"/>
          <p:nvPr/>
        </p:nvSpPr>
        <p:spPr>
          <a:xfrm>
            <a:off x="7498079" y="2461260"/>
            <a:ext cx="400507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MLlib GBT Tmax +1 d RMSE: XGBoost 1.835, persistence 1.902</a:t>
            </a:r>
          </a:p>
        </p:txBody>
      </p:sp>
      <p:sp>
        <p:nvSpPr>
          <p:cNvPr id="13" name="Rounded Rectangle 12"/>
          <p:cNvSpPr/>
          <p:nvPr/>
        </p:nvSpPr>
        <p:spPr>
          <a:xfrm>
            <a:off x="7269480" y="3200400"/>
            <a:ext cx="437083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69480" y="3364992"/>
            <a:ext cx="54864" cy="950976"/>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3328416"/>
            <a:ext cx="4005072" cy="495300"/>
          </a:xfrm>
          <a:prstGeom prst="rect">
            <a:avLst/>
          </a:prstGeom>
          <a:noFill/>
        </p:spPr>
        <p:txBody>
          <a:bodyPr wrap="square" lIns="18288" rIns="18288" tIns="18288" bIns="18288" anchor="t">
            <a:spAutoFit/>
          </a:bodyPr>
          <a:lstStyle/>
          <a:p>
            <a:pPr algn="l">
              <a:lnSpc>
                <a:spcPct val="108000"/>
              </a:lnSpc>
            </a:pPr>
            <a:r>
              <a:rPr sz="3000" b="1" i="0">
                <a:solidFill>
                  <a:srgbClr val="F5A524"/>
                </a:solidFill>
                <a:latin typeface="Arial"/>
              </a:rPr>
              <a:t>CSI 0.367</a:t>
            </a:r>
          </a:p>
        </p:txBody>
      </p:sp>
      <p:sp>
        <p:nvSpPr>
          <p:cNvPr id="16" name="TextBox 15"/>
          <p:cNvSpPr txBox="1"/>
          <p:nvPr/>
        </p:nvSpPr>
        <p:spPr>
          <a:xfrm>
            <a:off x="7498079" y="3878580"/>
            <a:ext cx="400507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MLlib GBT heatwave +1 d (XGBoost 0.356, persistence 0.717)</a:t>
            </a:r>
          </a:p>
        </p:txBody>
      </p:sp>
      <p:sp>
        <p:nvSpPr>
          <p:cNvPr id="17" name="Rounded Rectangle 16"/>
          <p:cNvSpPr/>
          <p:nvPr/>
        </p:nvSpPr>
        <p:spPr>
          <a:xfrm>
            <a:off x="7269480" y="4617720"/>
            <a:ext cx="437083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69480" y="4782312"/>
            <a:ext cx="54864" cy="95097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79" y="4745736"/>
            <a:ext cx="4005072" cy="495300"/>
          </a:xfrm>
          <a:prstGeom prst="rect">
            <a:avLst/>
          </a:prstGeom>
          <a:noFill/>
        </p:spPr>
        <p:txBody>
          <a:bodyPr wrap="square" lIns="18288" rIns="18288" tIns="18288" bIns="18288" anchor="t">
            <a:spAutoFit/>
          </a:bodyPr>
          <a:lstStyle/>
          <a:p>
            <a:pPr algn="l">
              <a:lnSpc>
                <a:spcPct val="108000"/>
              </a:lnSpc>
            </a:pPr>
            <a:r>
              <a:rPr sz="3000" b="1" i="0">
                <a:solidFill>
                  <a:srgbClr val="A78BFA"/>
                </a:solidFill>
                <a:latin typeface="Arial"/>
              </a:rPr>
              <a:t>AUC 0.947</a:t>
            </a:r>
          </a:p>
        </p:txBody>
      </p:sp>
      <p:sp>
        <p:nvSpPr>
          <p:cNvPr id="20" name="TextBox 19"/>
          <p:cNvSpPr txBox="1"/>
          <p:nvPr/>
        </p:nvSpPr>
        <p:spPr>
          <a:xfrm>
            <a:off x="7498079" y="5295900"/>
            <a:ext cx="400507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ROC-AUC; PR-AUC 0.618; threshold 0.15 tuned on 2021</a:t>
            </a:r>
          </a:p>
        </p:txBody>
      </p:sp>
      <p:sp>
        <p:nvSpPr>
          <p:cNvPr id="21" name="TextBox 20"/>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results/bigdata/mllib_baseline.json (YARN application_1792965347508_0004, seed 42; same 7,280 test rows)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3B82F6"/>
                </a:solidFill>
                <a:latin typeface="Arial"/>
              </a:rPr>
              <a:t>06</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Streaming</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Streaming is fast enough for warnings and lost nothing under failure — on one node.</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3B82F6"/>
                </a:solidFill>
                <a:latin typeface="Arial"/>
              </a:rPr>
              <a:t>STREAMING · LOCAL RUNTIME (THESIS RESULTS)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The local stream processed a six-month season with zero lost alerts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28</a:t>
            </a:r>
          </a:p>
        </p:txBody>
      </p:sp>
      <p:sp>
        <p:nvSpPr>
          <p:cNvPr id="8" name="Rounded Rectangle 7"/>
          <p:cNvSpPr/>
          <p:nvPr/>
        </p:nvSpPr>
        <p:spPr>
          <a:xfrm>
            <a:off x="548640" y="1783080"/>
            <a:ext cx="3566160" cy="178308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47672"/>
            <a:ext cx="54864" cy="145389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11095"/>
            <a:ext cx="3200400" cy="627380"/>
          </a:xfrm>
          <a:prstGeom prst="rect">
            <a:avLst/>
          </a:prstGeom>
          <a:noFill/>
        </p:spPr>
        <p:txBody>
          <a:bodyPr wrap="square" lIns="18288" rIns="18288" tIns="18288" bIns="18288" anchor="t">
            <a:spAutoFit/>
          </a:bodyPr>
          <a:lstStyle/>
          <a:p>
            <a:pPr algn="l">
              <a:lnSpc>
                <a:spcPct val="108000"/>
              </a:lnSpc>
            </a:pPr>
            <a:r>
              <a:rPr sz="3800" b="1" i="0">
                <a:solidFill>
                  <a:srgbClr val="3B82F6"/>
                </a:solidFill>
                <a:latin typeface="Arial"/>
              </a:rPr>
              <a:t>87,840</a:t>
            </a:r>
          </a:p>
        </p:txBody>
      </p:sp>
      <p:sp>
        <p:nvSpPr>
          <p:cNvPr id="11" name="TextBox 10"/>
          <p:cNvSpPr txBox="1"/>
          <p:nvPr/>
        </p:nvSpPr>
        <p:spPr>
          <a:xfrm>
            <a:off x="777240" y="2593340"/>
            <a:ext cx="3200400" cy="88137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events replayed: Apr–Sep 2022, 20 cities, hourly</a:t>
            </a:r>
          </a:p>
        </p:txBody>
      </p:sp>
      <p:sp>
        <p:nvSpPr>
          <p:cNvPr id="12" name="Rounded Rectangle 11"/>
          <p:cNvSpPr/>
          <p:nvPr/>
        </p:nvSpPr>
        <p:spPr>
          <a:xfrm>
            <a:off x="4315968" y="1783080"/>
            <a:ext cx="3566160" cy="178308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947672"/>
            <a:ext cx="54864" cy="145389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911095"/>
            <a:ext cx="3200400" cy="627380"/>
          </a:xfrm>
          <a:prstGeom prst="rect">
            <a:avLst/>
          </a:prstGeom>
          <a:noFill/>
        </p:spPr>
        <p:txBody>
          <a:bodyPr wrap="square" lIns="18288" rIns="18288" tIns="18288" bIns="18288" anchor="t">
            <a:spAutoFit/>
          </a:bodyPr>
          <a:lstStyle/>
          <a:p>
            <a:pPr algn="l">
              <a:lnSpc>
                <a:spcPct val="108000"/>
              </a:lnSpc>
            </a:pPr>
            <a:r>
              <a:rPr sz="3800" b="1" i="0">
                <a:solidFill>
                  <a:srgbClr val="3B82F6"/>
                </a:solidFill>
                <a:latin typeface="Arial"/>
              </a:rPr>
              <a:t>210.5 /s</a:t>
            </a:r>
          </a:p>
        </p:txBody>
      </p:sp>
      <p:sp>
        <p:nvSpPr>
          <p:cNvPr id="15" name="TextBox 14"/>
          <p:cNvSpPr txBox="1"/>
          <p:nvPr/>
        </p:nvSpPr>
        <p:spPr>
          <a:xfrm>
            <a:off x="4544568" y="2593340"/>
            <a:ext cx="3200400" cy="88137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events per second sustained (183 daily batches)</a:t>
            </a:r>
          </a:p>
        </p:txBody>
      </p:sp>
      <p:sp>
        <p:nvSpPr>
          <p:cNvPr id="16" name="Rounded Rectangle 15"/>
          <p:cNvSpPr/>
          <p:nvPr/>
        </p:nvSpPr>
        <p:spPr>
          <a:xfrm>
            <a:off x="8083296" y="1783080"/>
            <a:ext cx="3566160" cy="178308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947672"/>
            <a:ext cx="54864" cy="1453895"/>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911095"/>
            <a:ext cx="3200400" cy="627380"/>
          </a:xfrm>
          <a:prstGeom prst="rect">
            <a:avLst/>
          </a:prstGeom>
          <a:noFill/>
        </p:spPr>
        <p:txBody>
          <a:bodyPr wrap="square" lIns="18288" rIns="18288" tIns="18288" bIns="18288" anchor="t">
            <a:spAutoFit/>
          </a:bodyPr>
          <a:lstStyle/>
          <a:p>
            <a:pPr algn="l">
              <a:lnSpc>
                <a:spcPct val="108000"/>
              </a:lnSpc>
            </a:pPr>
            <a:r>
              <a:rPr sz="3800" b="1" i="0">
                <a:solidFill>
                  <a:srgbClr val="14B8A6"/>
                </a:solidFill>
                <a:latin typeface="Arial"/>
              </a:rPr>
              <a:t>2.37 s</a:t>
            </a:r>
          </a:p>
        </p:txBody>
      </p:sp>
      <p:sp>
        <p:nvSpPr>
          <p:cNvPr id="19" name="TextBox 18"/>
          <p:cNvSpPr txBox="1"/>
          <p:nvPr/>
        </p:nvSpPr>
        <p:spPr>
          <a:xfrm>
            <a:off x="8311896" y="2593340"/>
            <a:ext cx="3200400" cy="88137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p95 to process one day of data for all 20 cities</a:t>
            </a:r>
          </a:p>
        </p:txBody>
      </p:sp>
      <p:sp>
        <p:nvSpPr>
          <p:cNvPr id="20" name="Rounded Rectangle 19"/>
          <p:cNvSpPr/>
          <p:nvPr/>
        </p:nvSpPr>
        <p:spPr>
          <a:xfrm>
            <a:off x="548640" y="3794760"/>
            <a:ext cx="5440680" cy="178308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959352"/>
            <a:ext cx="54864" cy="1453895"/>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922776"/>
            <a:ext cx="5074920"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6 fault modes · 0 crashes</a:t>
            </a:r>
          </a:p>
        </p:txBody>
      </p:sp>
      <p:sp>
        <p:nvSpPr>
          <p:cNvPr id="23" name="TextBox 22"/>
          <p:cNvSpPr txBox="1"/>
          <p:nvPr/>
        </p:nvSpPr>
        <p:spPr>
          <a:xfrm>
            <a:off x="777240" y="4472940"/>
            <a:ext cx="5074920" cy="101345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duplicate, corrupt, out-of-order, delayed, missing, outage; 0 duplicate alerts</a:t>
            </a:r>
          </a:p>
        </p:txBody>
      </p:sp>
      <p:sp>
        <p:nvSpPr>
          <p:cNvPr id="24" name="Rounded Rectangle 23"/>
          <p:cNvSpPr/>
          <p:nvPr/>
        </p:nvSpPr>
        <p:spPr>
          <a:xfrm>
            <a:off x="6199632" y="3794760"/>
            <a:ext cx="5440680" cy="178308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3959352"/>
            <a:ext cx="54864" cy="1453895"/>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2" y="3922776"/>
            <a:ext cx="5074920" cy="495300"/>
          </a:xfrm>
          <a:prstGeom prst="rect">
            <a:avLst/>
          </a:prstGeom>
          <a:noFill/>
        </p:spPr>
        <p:txBody>
          <a:bodyPr wrap="square" lIns="18288" rIns="18288" tIns="18288" bIns="18288" anchor="t">
            <a:spAutoFit/>
          </a:bodyPr>
          <a:lstStyle/>
          <a:p>
            <a:pPr algn="l">
              <a:lnSpc>
                <a:spcPct val="108000"/>
              </a:lnSpc>
            </a:pPr>
            <a:r>
              <a:rPr sz="3000" b="1" i="0">
                <a:solidFill>
                  <a:srgbClr val="22C55E"/>
                </a:solidFill>
                <a:latin typeface="Arial"/>
              </a:rPr>
              <a:t>0 lost · 0 duplicate</a:t>
            </a:r>
          </a:p>
        </p:txBody>
      </p:sp>
      <p:sp>
        <p:nvSpPr>
          <p:cNvPr id="27" name="TextBox 26"/>
          <p:cNvSpPr txBox="1"/>
          <p:nvPr/>
        </p:nvSpPr>
        <p:spPr>
          <a:xfrm>
            <a:off x="6428232" y="4472940"/>
            <a:ext cx="5074920" cy="101345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alerts after kill-and-restart (restored from checkpoint)</a:t>
            </a:r>
          </a:p>
        </p:txBody>
      </p:sp>
      <p:sp>
        <p:nvSpPr>
          <p:cNvPr id="28" name="TextBox 27"/>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results/streaming_local.json (runtime: local fallback, in-process queue + StreamProcessor); thesis RQ3 answer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3B82F6"/>
                </a:solidFill>
                <a:latin typeface="Arial"/>
              </a:rPr>
              <a:t>STREAMING · KAFKA → SPARK ON YARN</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Kafka to Spark processed 2,739 events per second with a 5.5 s p95 to HDFS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29</a:t>
            </a:r>
          </a:p>
        </p:txBody>
      </p:sp>
      <p:pic>
        <p:nvPicPr>
          <p:cNvPr id="8" name="Picture 7" descr="kafka_latency.png"/>
          <p:cNvPicPr>
            <a:picLocks noChangeAspect="1"/>
          </p:cNvPicPr>
          <p:nvPr/>
        </p:nvPicPr>
        <p:blipFill>
          <a:blip r:embed="rId2"/>
          <a:stretch>
            <a:fillRect/>
          </a:stretch>
        </p:blipFill>
        <p:spPr>
          <a:xfrm>
            <a:off x="548640" y="1691640"/>
            <a:ext cx="6949440" cy="3648456"/>
          </a:xfrm>
          <a:prstGeom prst="rect">
            <a:avLst/>
          </a:prstGeom>
        </p:spPr>
      </p:pic>
      <p:sp>
        <p:nvSpPr>
          <p:cNvPr id="9" name="Rounded Rectangle 8"/>
          <p:cNvSpPr/>
          <p:nvPr/>
        </p:nvSpPr>
        <p:spPr>
          <a:xfrm>
            <a:off x="7772400" y="1783080"/>
            <a:ext cx="386791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0" y="1947672"/>
            <a:ext cx="54864" cy="95097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911095"/>
            <a:ext cx="3502152" cy="495300"/>
          </a:xfrm>
          <a:prstGeom prst="rect">
            <a:avLst/>
          </a:prstGeom>
          <a:noFill/>
        </p:spPr>
        <p:txBody>
          <a:bodyPr wrap="square" lIns="18288" rIns="18288" tIns="18288" bIns="18288" anchor="t">
            <a:spAutoFit/>
          </a:bodyPr>
          <a:lstStyle/>
          <a:p>
            <a:pPr algn="l">
              <a:lnSpc>
                <a:spcPct val="108000"/>
              </a:lnSpc>
            </a:pPr>
            <a:r>
              <a:rPr sz="3000" b="1" i="0">
                <a:solidFill>
                  <a:srgbClr val="3B82F6"/>
                </a:solidFill>
                <a:latin typeface="Arial"/>
              </a:rPr>
              <a:t>2,739 /s</a:t>
            </a:r>
          </a:p>
        </p:txBody>
      </p:sp>
      <p:sp>
        <p:nvSpPr>
          <p:cNvPr id="12" name="TextBox 11"/>
          <p:cNvSpPr txBox="1"/>
          <p:nvPr/>
        </p:nvSpPr>
        <p:spPr>
          <a:xfrm>
            <a:off x="8001000" y="2461260"/>
            <a:ext cx="350215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processing rate on a 58,560-event backlog (3 micro-batches)</a:t>
            </a:r>
          </a:p>
        </p:txBody>
      </p:sp>
      <p:sp>
        <p:nvSpPr>
          <p:cNvPr id="13" name="Rounded Rectangle 12"/>
          <p:cNvSpPr/>
          <p:nvPr/>
        </p:nvSpPr>
        <p:spPr>
          <a:xfrm>
            <a:off x="7772400" y="3200400"/>
            <a:ext cx="386791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0" y="3364992"/>
            <a:ext cx="54864" cy="9509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328416"/>
            <a:ext cx="3502152"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5.5 s</a:t>
            </a:r>
          </a:p>
        </p:txBody>
      </p:sp>
      <p:sp>
        <p:nvSpPr>
          <p:cNvPr id="16" name="TextBox 15"/>
          <p:cNvSpPr txBox="1"/>
          <p:nvPr/>
        </p:nvSpPr>
        <p:spPr>
          <a:xfrm>
            <a:off x="8001000" y="3878580"/>
            <a:ext cx="350215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p95 event → HDFS Parquet at 100 events/s (p50 2.8 s)</a:t>
            </a:r>
          </a:p>
        </p:txBody>
      </p:sp>
      <p:sp>
        <p:nvSpPr>
          <p:cNvPr id="17" name="Rounded Rectangle 16"/>
          <p:cNvSpPr/>
          <p:nvPr/>
        </p:nvSpPr>
        <p:spPr>
          <a:xfrm>
            <a:off x="7772400" y="4617720"/>
            <a:ext cx="3867912" cy="128016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4782312"/>
            <a:ext cx="54864" cy="950976"/>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4745736"/>
            <a:ext cx="3502152" cy="495300"/>
          </a:xfrm>
          <a:prstGeom prst="rect">
            <a:avLst/>
          </a:prstGeom>
          <a:noFill/>
        </p:spPr>
        <p:txBody>
          <a:bodyPr wrap="square" lIns="18288" rIns="18288" tIns="18288" bIns="18288" anchor="t">
            <a:spAutoFit/>
          </a:bodyPr>
          <a:lstStyle/>
          <a:p>
            <a:pPr algn="l">
              <a:lnSpc>
                <a:spcPct val="108000"/>
              </a:lnSpc>
            </a:pPr>
            <a:r>
              <a:rPr sz="3000" b="1" i="0">
                <a:solidFill>
                  <a:srgbClr val="F5A524"/>
                </a:solidFill>
                <a:latin typeface="Arial"/>
              </a:rPr>
              <a:t>3.2 s</a:t>
            </a:r>
          </a:p>
        </p:txBody>
      </p:sp>
      <p:sp>
        <p:nvSpPr>
          <p:cNvPr id="20" name="TextBox 19"/>
          <p:cNvSpPr txBox="1"/>
          <p:nvPr/>
        </p:nvSpPr>
        <p:spPr>
          <a:xfrm>
            <a:off x="8001000" y="5295900"/>
            <a:ext cx="3502152" cy="51053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p95 event → Kafka hf-alerts (54 alerts)</a:t>
            </a:r>
          </a:p>
        </p:txBody>
      </p:sp>
      <p:sp>
        <p:nvSpPr>
          <p:cNvPr id="21" name="TextBox 20"/>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results/bigdata/streaming_kafka_spark.json (YARN apps _0005, _0006); single-node pseudo-distributed cluster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3B82F6"/>
                </a:solidFill>
                <a:latin typeface="Arial"/>
              </a:rPr>
              <a:t>STREAMING · FAULT TOLERANCE</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Killing the Spark driver lost and duplicated nothing in the HDFS sink</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30</a:t>
            </a:r>
          </a:p>
        </p:txBody>
      </p:sp>
      <p:sp>
        <p:nvSpPr>
          <p:cNvPr id="8" name="Rounded Rectangle 7"/>
          <p:cNvSpPr/>
          <p:nvPr/>
        </p:nvSpPr>
        <p:spPr>
          <a:xfrm>
            <a:off x="548640" y="1783080"/>
            <a:ext cx="3566160" cy="18288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47672"/>
            <a:ext cx="54864" cy="149961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11095"/>
            <a:ext cx="3200400" cy="495300"/>
          </a:xfrm>
          <a:prstGeom prst="rect">
            <a:avLst/>
          </a:prstGeom>
          <a:noFill/>
        </p:spPr>
        <p:txBody>
          <a:bodyPr wrap="square" lIns="18288" rIns="18288" tIns="18288" bIns="18288" anchor="t">
            <a:spAutoFit/>
          </a:bodyPr>
          <a:lstStyle/>
          <a:p>
            <a:pPr algn="l">
              <a:lnSpc>
                <a:spcPct val="108000"/>
              </a:lnSpc>
            </a:pPr>
            <a:r>
              <a:rPr sz="3000" b="1" i="0">
                <a:solidFill>
                  <a:srgbClr val="22C55E"/>
                </a:solidFill>
                <a:latin typeface="Arial"/>
              </a:rPr>
              <a:t>21,600 / 21,600</a:t>
            </a:r>
          </a:p>
        </p:txBody>
      </p:sp>
      <p:sp>
        <p:nvSpPr>
          <p:cNvPr id="11" name="TextBox 10"/>
          <p:cNvSpPr txBox="1"/>
          <p:nvPr/>
        </p:nvSpPr>
        <p:spPr>
          <a:xfrm>
            <a:off x="777240" y="2461260"/>
            <a:ext cx="3200400" cy="105918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Kafka events = HDFS sink rows (distinct offsets)</a:t>
            </a:r>
          </a:p>
        </p:txBody>
      </p:sp>
      <p:sp>
        <p:nvSpPr>
          <p:cNvPr id="12" name="Rounded Rectangle 11"/>
          <p:cNvSpPr/>
          <p:nvPr/>
        </p:nvSpPr>
        <p:spPr>
          <a:xfrm>
            <a:off x="4315968" y="1783080"/>
            <a:ext cx="3566160" cy="18288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947672"/>
            <a:ext cx="54864" cy="149961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911095"/>
            <a:ext cx="3200400" cy="594360"/>
          </a:xfrm>
          <a:prstGeom prst="rect">
            <a:avLst/>
          </a:prstGeom>
          <a:noFill/>
        </p:spPr>
        <p:txBody>
          <a:bodyPr wrap="square" lIns="18288" rIns="18288" tIns="18288" bIns="18288" anchor="t">
            <a:spAutoFit/>
          </a:bodyPr>
          <a:lstStyle/>
          <a:p>
            <a:pPr algn="l">
              <a:lnSpc>
                <a:spcPct val="108000"/>
              </a:lnSpc>
            </a:pPr>
            <a:r>
              <a:rPr sz="3600" b="1" i="0">
                <a:solidFill>
                  <a:srgbClr val="22C55E"/>
                </a:solidFill>
                <a:latin typeface="Arial"/>
              </a:rPr>
              <a:t>0 · 0</a:t>
            </a:r>
          </a:p>
        </p:txBody>
      </p:sp>
      <p:sp>
        <p:nvSpPr>
          <p:cNvPr id="15" name="TextBox 14"/>
          <p:cNvSpPr txBox="1"/>
          <p:nvPr/>
        </p:nvSpPr>
        <p:spPr>
          <a:xfrm>
            <a:off x="4544568" y="2560320"/>
            <a:ext cx="3200400" cy="960119"/>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missing offsets · duplicate rows in Parquet sink</a:t>
            </a:r>
          </a:p>
        </p:txBody>
      </p:sp>
      <p:sp>
        <p:nvSpPr>
          <p:cNvPr id="16" name="Rounded Rectangle 15"/>
          <p:cNvSpPr/>
          <p:nvPr/>
        </p:nvSpPr>
        <p:spPr>
          <a:xfrm>
            <a:off x="8083296" y="1783080"/>
            <a:ext cx="3566160" cy="1828800"/>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947672"/>
            <a:ext cx="54864" cy="149961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911095"/>
            <a:ext cx="3200400" cy="495300"/>
          </a:xfrm>
          <a:prstGeom prst="rect">
            <a:avLst/>
          </a:prstGeom>
          <a:noFill/>
        </p:spPr>
        <p:txBody>
          <a:bodyPr wrap="square" lIns="18288" rIns="18288" tIns="18288" bIns="18288" anchor="t">
            <a:spAutoFit/>
          </a:bodyPr>
          <a:lstStyle/>
          <a:p>
            <a:pPr algn="l">
              <a:lnSpc>
                <a:spcPct val="108000"/>
              </a:lnSpc>
            </a:pPr>
            <a:r>
              <a:rPr sz="3000" b="1" i="0">
                <a:solidFill>
                  <a:srgbClr val="14B8A6"/>
                </a:solidFill>
                <a:latin typeface="Arial"/>
              </a:rPr>
              <a:t>212 = 212</a:t>
            </a:r>
          </a:p>
        </p:txBody>
      </p:sp>
      <p:sp>
        <p:nvSpPr>
          <p:cNvPr id="19" name="TextBox 18"/>
          <p:cNvSpPr txBox="1"/>
          <p:nvPr/>
        </p:nvSpPr>
        <p:spPr>
          <a:xfrm>
            <a:off x="8311896" y="2461260"/>
            <a:ext cx="3200400" cy="105918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alerts identical to offline reference; features max |diff| 0.0</a:t>
            </a:r>
          </a:p>
        </p:txBody>
      </p:sp>
      <p:sp>
        <p:nvSpPr>
          <p:cNvPr id="20" name="Rounded Rectangle 19"/>
          <p:cNvSpPr/>
          <p:nvPr/>
        </p:nvSpPr>
        <p:spPr>
          <a:xfrm>
            <a:off x="548640" y="3840480"/>
            <a:ext cx="11091672" cy="914400"/>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904487"/>
            <a:ext cx="2560320" cy="365760"/>
          </a:xfrm>
          <a:prstGeom prst="rect">
            <a:avLst/>
          </a:prstGeom>
          <a:noFill/>
        </p:spPr>
        <p:txBody>
          <a:bodyPr wrap="square" lIns="18288" rIns="18288" tIns="18288" bIns="18288" anchor="t">
            <a:spAutoFit/>
          </a:bodyPr>
          <a:lstStyle/>
          <a:p>
            <a:pPr algn="l">
              <a:lnSpc>
                <a:spcPct val="108000"/>
              </a:lnSpc>
            </a:pPr>
            <a:r>
              <a:rPr sz="1600" b="1" i="0">
                <a:solidFill>
                  <a:srgbClr val="3B82F6"/>
                </a:solidFill>
                <a:latin typeface="Arial"/>
              </a:rPr>
              <a:t>0 s</a:t>
            </a:r>
          </a:p>
        </p:txBody>
      </p:sp>
      <p:sp>
        <p:nvSpPr>
          <p:cNvPr id="22" name="TextBox 21"/>
          <p:cNvSpPr txBox="1"/>
          <p:nvPr/>
        </p:nvSpPr>
        <p:spPr>
          <a:xfrm>
            <a:off x="777240" y="4270248"/>
            <a:ext cx="2560320" cy="41148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250 events/s</a:t>
            </a:r>
          </a:p>
        </p:txBody>
      </p:sp>
      <p:sp>
        <p:nvSpPr>
          <p:cNvPr id="23" name="TextBox 22"/>
          <p:cNvSpPr txBox="1"/>
          <p:nvPr/>
        </p:nvSpPr>
        <p:spPr>
          <a:xfrm>
            <a:off x="3520440" y="3904487"/>
            <a:ext cx="2560320" cy="365760"/>
          </a:xfrm>
          <a:prstGeom prst="rect">
            <a:avLst/>
          </a:prstGeom>
          <a:noFill/>
        </p:spPr>
        <p:txBody>
          <a:bodyPr wrap="square" lIns="18288" rIns="18288" tIns="18288" bIns="18288" anchor="t">
            <a:spAutoFit/>
          </a:bodyPr>
          <a:lstStyle/>
          <a:p>
            <a:pPr algn="l">
              <a:lnSpc>
                <a:spcPct val="108000"/>
              </a:lnSpc>
            </a:pPr>
            <a:r>
              <a:rPr sz="1600" b="1" i="0">
                <a:solidFill>
                  <a:srgbClr val="3B82F6"/>
                </a:solidFill>
                <a:latin typeface="Arial"/>
              </a:rPr>
              <a:t>45 s</a:t>
            </a:r>
          </a:p>
        </p:txBody>
      </p:sp>
      <p:sp>
        <p:nvSpPr>
          <p:cNvPr id="24" name="TextBox 23"/>
          <p:cNvSpPr txBox="1"/>
          <p:nvPr/>
        </p:nvSpPr>
        <p:spPr>
          <a:xfrm>
            <a:off x="3520440" y="4270248"/>
            <a:ext cx="2560320" cy="41148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SIGKILL driver</a:t>
            </a:r>
          </a:p>
        </p:txBody>
      </p:sp>
      <p:sp>
        <p:nvSpPr>
          <p:cNvPr id="25" name="TextBox 24"/>
          <p:cNvSpPr txBox="1"/>
          <p:nvPr/>
        </p:nvSpPr>
        <p:spPr>
          <a:xfrm>
            <a:off x="6263640" y="3904487"/>
            <a:ext cx="2560320" cy="365760"/>
          </a:xfrm>
          <a:prstGeom prst="rect">
            <a:avLst/>
          </a:prstGeom>
          <a:noFill/>
        </p:spPr>
        <p:txBody>
          <a:bodyPr wrap="square" lIns="18288" rIns="18288" tIns="18288" bIns="18288" anchor="t">
            <a:spAutoFit/>
          </a:bodyPr>
          <a:lstStyle/>
          <a:p>
            <a:pPr algn="l">
              <a:lnSpc>
                <a:spcPct val="108000"/>
              </a:lnSpc>
            </a:pPr>
            <a:r>
              <a:rPr sz="1600" b="1" i="0">
                <a:solidFill>
                  <a:srgbClr val="3B82F6"/>
                </a:solidFill>
                <a:latin typeface="Arial"/>
              </a:rPr>
              <a:t>+43 s</a:t>
            </a:r>
          </a:p>
        </p:txBody>
      </p:sp>
      <p:sp>
        <p:nvSpPr>
          <p:cNvPr id="26" name="TextBox 25"/>
          <p:cNvSpPr txBox="1"/>
          <p:nvPr/>
        </p:nvSpPr>
        <p:spPr>
          <a:xfrm>
            <a:off x="6263640" y="4270248"/>
            <a:ext cx="2560320" cy="41148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restart from HDFS checkpoint</a:t>
            </a:r>
          </a:p>
        </p:txBody>
      </p:sp>
      <p:sp>
        <p:nvSpPr>
          <p:cNvPr id="27" name="TextBox 26"/>
          <p:cNvSpPr txBox="1"/>
          <p:nvPr/>
        </p:nvSpPr>
        <p:spPr>
          <a:xfrm>
            <a:off x="9006840" y="3904487"/>
            <a:ext cx="2560320" cy="365760"/>
          </a:xfrm>
          <a:prstGeom prst="rect">
            <a:avLst/>
          </a:prstGeom>
          <a:noFill/>
        </p:spPr>
        <p:txBody>
          <a:bodyPr wrap="square" lIns="18288" rIns="18288" tIns="18288" bIns="18288" anchor="t">
            <a:spAutoFit/>
          </a:bodyPr>
          <a:lstStyle/>
          <a:p>
            <a:pPr algn="l">
              <a:lnSpc>
                <a:spcPct val="108000"/>
              </a:lnSpc>
            </a:pPr>
            <a:r>
              <a:rPr sz="1600" b="1" i="0">
                <a:solidFill>
                  <a:srgbClr val="3B82F6"/>
                </a:solidFill>
                <a:latin typeface="Arial"/>
              </a:rPr>
              <a:t>+34.9 s</a:t>
            </a:r>
          </a:p>
        </p:txBody>
      </p:sp>
      <p:sp>
        <p:nvSpPr>
          <p:cNvPr id="28" name="TextBox 27"/>
          <p:cNvSpPr txBox="1"/>
          <p:nvPr/>
        </p:nvSpPr>
        <p:spPr>
          <a:xfrm>
            <a:off x="9006840" y="4270248"/>
            <a:ext cx="2560320" cy="411480"/>
          </a:xfrm>
          <a:prstGeom prst="rect">
            <a:avLst/>
          </a:prstGeom>
          <a:noFill/>
        </p:spPr>
        <p:txBody>
          <a:bodyPr wrap="square" lIns="18288" rIns="18288" tIns="18288" bIns="18288" anchor="t">
            <a:spAutoFit/>
          </a:bodyPr>
          <a:lstStyle/>
          <a:p>
            <a:pPr algn="l">
              <a:lnSpc>
                <a:spcPct val="108000"/>
              </a:lnSpc>
            </a:pPr>
            <a:r>
              <a:rPr sz="1300" b="0" i="0">
                <a:solidFill>
                  <a:srgbClr val="E8EDF5"/>
                </a:solidFill>
                <a:latin typeface="Arial"/>
              </a:rPr>
              <a:t>drain backlog</a:t>
            </a:r>
          </a:p>
        </p:txBody>
      </p:sp>
      <p:sp>
        <p:nvSpPr>
          <p:cNvPr id="29" name="Rounded Rectangle 28"/>
          <p:cNvSpPr/>
          <p:nvPr/>
        </p:nvSpPr>
        <p:spPr>
          <a:xfrm>
            <a:off x="548640" y="4937760"/>
            <a:ext cx="11091672" cy="868680"/>
          </a:xfrm>
          <a:prstGeom prst="roundRect">
            <a:avLst>
              <a:gd name="adj" fmla="val 12000"/>
            </a:avLst>
          </a:prstGeom>
          <a:solidFill>
            <a:srgbClr val="1A141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937760"/>
            <a:ext cx="10698480" cy="868680"/>
          </a:xfrm>
          <a:prstGeom prst="rect">
            <a:avLst/>
          </a:prstGeom>
          <a:noFill/>
        </p:spPr>
        <p:txBody>
          <a:bodyPr wrap="square" lIns="18288" rIns="18288" tIns="18288" bIns="18288" anchor="ctr">
            <a:spAutoFit/>
          </a:bodyPr>
          <a:lstStyle/>
          <a:p>
            <a:pPr algn="l">
              <a:lnSpc>
                <a:spcPct val="108000"/>
              </a:lnSpc>
            </a:pPr>
            <a:r>
              <a:rPr sz="1450" b="1" i="0">
                <a:solidFill>
                  <a:srgbClr val="F5A524"/>
                </a:solidFill>
                <a:latin typeface="Arial"/>
              </a:rPr>
              <a:t>Kafka alert topic is at-least-once: </a:t>
            </a:r>
            <a:r>
              <a:rPr sz="1450" b="0" i="0">
                <a:solidFill>
                  <a:srgbClr val="E8EDF5"/>
                </a:solidFill>
                <a:latin typeface="Arial"/>
              </a:rPr>
              <a:t>254 messages, 42 replayed from the in-flight batch — consumers must de-duplicate by event id.</a:t>
            </a:r>
          </a:p>
        </p:txBody>
      </p:sp>
      <p:sp>
        <p:nvSpPr>
          <p:cNvPr id="31" name="TextBox 30"/>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results/bigdata/streaming_kafka_spark.json → kill_restart (YARN apps _0007 → _0008)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3B82F6"/>
                </a:solidFill>
                <a:latin typeface="Arial"/>
              </a:rPr>
              <a:t>SCALABILITY (RQ4)</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Batch feature cost scales linearly with volume on one node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31</a:t>
            </a:r>
          </a:p>
        </p:txBody>
      </p:sp>
      <p:pic>
        <p:nvPicPr>
          <p:cNvPr id="8" name="Picture 7" descr="scalability.png"/>
          <p:cNvPicPr>
            <a:picLocks noChangeAspect="1"/>
          </p:cNvPicPr>
          <p:nvPr/>
        </p:nvPicPr>
        <p:blipFill>
          <a:blip r:embed="rId2"/>
          <a:stretch>
            <a:fillRect/>
          </a:stretch>
        </p:blipFill>
        <p:spPr>
          <a:xfrm>
            <a:off x="548640" y="1691640"/>
            <a:ext cx="7406640" cy="3291840"/>
          </a:xfrm>
          <a:prstGeom prst="rect">
            <a:avLst/>
          </a:prstGeom>
        </p:spPr>
      </p:pic>
      <p:sp>
        <p:nvSpPr>
          <p:cNvPr id="9" name="TextBox 8"/>
          <p:cNvSpPr txBox="1"/>
          <p:nvPr/>
        </p:nvSpPr>
        <p:spPr>
          <a:xfrm>
            <a:off x="8183879" y="1828800"/>
            <a:ext cx="3474720" cy="4023360"/>
          </a:xfrm>
          <a:prstGeom prst="rect">
            <a:avLst/>
          </a:prstGeom>
          <a:noFill/>
        </p:spPr>
        <p:txBody>
          <a:bodyPr wrap="square" lIns="18288" rIns="18288" tIns="18288" bIns="18288">
            <a:spAutoFit/>
          </a:bodyPr>
          <a:lstStyle/>
          <a:p>
            <a:pPr>
              <a:lnSpc>
                <a:spcPct val="105000"/>
              </a:lnSpc>
              <a:spcAft>
                <a:spcPts val="1200"/>
              </a:spcAft>
            </a:pPr>
            <a:r>
              <a:rPr sz="1050">
                <a:solidFill>
                  <a:srgbClr val="3B82F6"/>
                </a:solidFill>
                <a:latin typeface="Arial"/>
              </a:rPr>
              <a:t>■  </a:t>
            </a:r>
            <a:r>
              <a:rPr sz="1450" b="1">
                <a:solidFill>
                  <a:srgbClr val="E8EDF5"/>
                </a:solidFill>
                <a:latin typeface="Arial"/>
              </a:rPr>
              <a:t>E1 volume: </a:t>
            </a:r>
            <a:r>
              <a:rPr sz="1450" b="0">
                <a:solidFill>
                  <a:srgbClr val="E8EDF5"/>
                </a:solidFill>
                <a:latin typeface="Arial"/>
              </a:rPr>
              <a:t>linear, R² = 0.9999 over a 4× increase</a:t>
            </a:r>
          </a:p>
          <a:p>
            <a:pPr>
              <a:lnSpc>
                <a:spcPct val="105000"/>
              </a:lnSpc>
              <a:spcAft>
                <a:spcPts val="1200"/>
              </a:spcAft>
            </a:pPr>
            <a:r>
              <a:rPr sz="1050">
                <a:solidFill>
                  <a:srgbClr val="3B82F6"/>
                </a:solidFill>
                <a:latin typeface="Arial"/>
              </a:rPr>
              <a:t>■  </a:t>
            </a:r>
            <a:r>
              <a:rPr sz="1450" b="1">
                <a:solidFill>
                  <a:srgbClr val="E8EDF5"/>
                </a:solidFill>
                <a:latin typeface="Arial"/>
              </a:rPr>
              <a:t>E2 workers: </a:t>
            </a:r>
            <a:r>
              <a:rPr sz="1450" b="0">
                <a:solidFill>
                  <a:srgbClr val="E8EDF5"/>
                </a:solidFill>
                <a:latin typeface="Arial"/>
              </a:rPr>
              <a:t>speed-up 1.88 with 2 processes (efficiency 0.94)</a:t>
            </a:r>
          </a:p>
          <a:p>
            <a:pPr>
              <a:lnSpc>
                <a:spcPct val="105000"/>
              </a:lnSpc>
              <a:spcAft>
                <a:spcPts val="1200"/>
              </a:spcAft>
            </a:pPr>
            <a:r>
              <a:rPr sz="1050">
                <a:solidFill>
                  <a:srgbClr val="3B82F6"/>
                </a:solidFill>
                <a:latin typeface="Arial"/>
              </a:rPr>
              <a:t>■  </a:t>
            </a:r>
            <a:r>
              <a:rPr sz="1450" b="1">
                <a:solidFill>
                  <a:srgbClr val="F5A524"/>
                </a:solidFill>
                <a:latin typeface="Arial"/>
              </a:rPr>
              <a:t>Not shown: </a:t>
            </a:r>
            <a:r>
              <a:rPr sz="1450" b="0">
                <a:solidFill>
                  <a:srgbClr val="E8EDF5"/>
                </a:solidFill>
                <a:latin typeface="Arial"/>
              </a:rPr>
              <a:t>scaling across nodes — needs a multi-node cluster</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results/scalability_local.json (2-vCPU node, process-level); thesis RQ4 answer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A78BFA"/>
                </a:solidFill>
                <a:latin typeface="Arial"/>
              </a:rPr>
              <a:t>07</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Limitations, conclusions and future work</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What the evidence supports, what it does not, and what comes next.</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LIMITATIONS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Six limitations bound every claim in this thesis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33</a:t>
            </a:r>
          </a:p>
        </p:txBody>
      </p:sp>
      <p:sp>
        <p:nvSpPr>
          <p:cNvPr id="8" name="Rounded Rectangle 7"/>
          <p:cNvSpPr/>
          <p:nvPr/>
        </p:nvSpPr>
        <p:spPr>
          <a:xfrm>
            <a:off x="548640" y="1783080"/>
            <a:ext cx="5440680" cy="1243584"/>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0240"/>
            <a:ext cx="64008" cy="96926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92807"/>
            <a:ext cx="5029200" cy="365760"/>
          </a:xfrm>
          <a:prstGeom prst="rect">
            <a:avLst/>
          </a:prstGeom>
          <a:noFill/>
        </p:spPr>
        <p:txBody>
          <a:bodyPr wrap="square" lIns="18288" rIns="18288" tIns="18288" bIns="18288" anchor="t">
            <a:spAutoFit/>
          </a:bodyPr>
          <a:lstStyle/>
          <a:p>
            <a:pPr algn="l">
              <a:lnSpc>
                <a:spcPct val="108000"/>
              </a:lnSpc>
            </a:pPr>
            <a:r>
              <a:rPr sz="1550" b="1" i="0">
                <a:solidFill>
                  <a:srgbClr val="E5484D"/>
                </a:solidFill>
                <a:latin typeface="Arial"/>
              </a:rPr>
              <a:t>PMD station data unavailable</a:t>
            </a:r>
          </a:p>
        </p:txBody>
      </p:sp>
      <p:sp>
        <p:nvSpPr>
          <p:cNvPr id="11" name="TextBox 10"/>
          <p:cNvSpPr txBox="1"/>
          <p:nvPr/>
        </p:nvSpPr>
        <p:spPr>
          <a:xfrm>
            <a:off x="822959" y="2286000"/>
            <a:ext cx="5029200" cy="73152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All results use ERA5 reanalysis; the PMD adapter was tested only on synthetic files.</a:t>
            </a:r>
          </a:p>
        </p:txBody>
      </p:sp>
      <p:sp>
        <p:nvSpPr>
          <p:cNvPr id="12" name="Rounded Rectangle 11"/>
          <p:cNvSpPr/>
          <p:nvPr/>
        </p:nvSpPr>
        <p:spPr>
          <a:xfrm>
            <a:off x="6153912" y="1783080"/>
            <a:ext cx="5440680" cy="1243584"/>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53912" y="1920240"/>
            <a:ext cx="64008" cy="96926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1892807"/>
            <a:ext cx="5029200" cy="365760"/>
          </a:xfrm>
          <a:prstGeom prst="rect">
            <a:avLst/>
          </a:prstGeom>
          <a:noFill/>
        </p:spPr>
        <p:txBody>
          <a:bodyPr wrap="square" lIns="18288" rIns="18288" tIns="18288" bIns="18288" anchor="t">
            <a:spAutoFit/>
          </a:bodyPr>
          <a:lstStyle/>
          <a:p>
            <a:pPr algn="l">
              <a:lnSpc>
                <a:spcPct val="108000"/>
              </a:lnSpc>
            </a:pPr>
            <a:r>
              <a:rPr sz="1550" b="1" i="0">
                <a:solidFill>
                  <a:srgbClr val="E5484D"/>
                </a:solidFill>
                <a:latin typeface="Arial"/>
              </a:rPr>
              <a:t>Proxy flood labels</a:t>
            </a:r>
          </a:p>
        </p:txBody>
      </p:sp>
      <p:sp>
        <p:nvSpPr>
          <p:cNvPr id="15" name="TextBox 14"/>
          <p:cNvSpPr txBox="1"/>
          <p:nvPr/>
        </p:nvSpPr>
        <p:spPr>
          <a:xfrm>
            <a:off x="6428231" y="2286000"/>
            <a:ext cx="5029200" cy="73152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Rainfall-extreme proxies, not observed floods; +6 h target overlaps observed rain.</a:t>
            </a:r>
          </a:p>
        </p:txBody>
      </p:sp>
      <p:sp>
        <p:nvSpPr>
          <p:cNvPr id="16" name="Rounded Rectangle 15"/>
          <p:cNvSpPr/>
          <p:nvPr/>
        </p:nvSpPr>
        <p:spPr>
          <a:xfrm>
            <a:off x="548640" y="3172968"/>
            <a:ext cx="5440680" cy="1243584"/>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10127"/>
            <a:ext cx="64008" cy="96926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282696"/>
            <a:ext cx="5029200" cy="365760"/>
          </a:xfrm>
          <a:prstGeom prst="rect">
            <a:avLst/>
          </a:prstGeom>
          <a:noFill/>
        </p:spPr>
        <p:txBody>
          <a:bodyPr wrap="square" lIns="18288" rIns="18288" tIns="18288" bIns="18288" anchor="t">
            <a:spAutoFit/>
          </a:bodyPr>
          <a:lstStyle/>
          <a:p>
            <a:pPr algn="l">
              <a:lnSpc>
                <a:spcPct val="108000"/>
              </a:lnSpc>
            </a:pPr>
            <a:r>
              <a:rPr sz="1550" b="1" i="0">
                <a:solidFill>
                  <a:srgbClr val="F5A524"/>
                </a:solidFill>
                <a:latin typeface="Arial"/>
              </a:rPr>
              <a:t>Single seed for some analyses</a:t>
            </a:r>
          </a:p>
        </p:txBody>
      </p:sp>
      <p:sp>
        <p:nvSpPr>
          <p:cNvPr id="19" name="TextBox 18"/>
          <p:cNvSpPr txBox="1"/>
          <p:nvPr/>
        </p:nvSpPr>
        <p:spPr>
          <a:xfrm>
            <a:off x="822959" y="3675887"/>
            <a:ext cx="5029200" cy="73152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ConvLSTM, XGBoost and MLlib use one seed; only the daily LSTM has three seeds.</a:t>
            </a:r>
          </a:p>
        </p:txBody>
      </p:sp>
      <p:sp>
        <p:nvSpPr>
          <p:cNvPr id="20" name="Rounded Rectangle 19"/>
          <p:cNvSpPr/>
          <p:nvPr/>
        </p:nvSpPr>
        <p:spPr>
          <a:xfrm>
            <a:off x="6153912" y="3172968"/>
            <a:ext cx="5440680" cy="1243584"/>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3912" y="3310127"/>
            <a:ext cx="64008" cy="96926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3282696"/>
            <a:ext cx="5029200" cy="365760"/>
          </a:xfrm>
          <a:prstGeom prst="rect">
            <a:avLst/>
          </a:prstGeom>
          <a:noFill/>
        </p:spPr>
        <p:txBody>
          <a:bodyPr wrap="square" lIns="18288" rIns="18288" tIns="18288" bIns="18288" anchor="t">
            <a:spAutoFit/>
          </a:bodyPr>
          <a:lstStyle/>
          <a:p>
            <a:pPr algn="l">
              <a:lnSpc>
                <a:spcPct val="108000"/>
              </a:lnSpc>
            </a:pPr>
            <a:r>
              <a:rPr sz="1550" b="1" i="0">
                <a:solidFill>
                  <a:srgbClr val="F5A524"/>
                </a:solidFill>
                <a:latin typeface="Arial"/>
              </a:rPr>
              <a:t>One exceptional test year</a:t>
            </a:r>
          </a:p>
        </p:txBody>
      </p:sp>
      <p:sp>
        <p:nvSpPr>
          <p:cNvPr id="23" name="TextBox 22"/>
          <p:cNvSpPr txBox="1"/>
          <p:nvPr/>
        </p:nvSpPr>
        <p:spPr>
          <a:xfrm>
            <a:off x="6428231" y="3675887"/>
            <a:ext cx="5029200" cy="73152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2022 only; percentile thresholds from six training years (2015–2020).</a:t>
            </a:r>
          </a:p>
        </p:txBody>
      </p:sp>
      <p:sp>
        <p:nvSpPr>
          <p:cNvPr id="24" name="Rounded Rectangle 23"/>
          <p:cNvSpPr/>
          <p:nvPr/>
        </p:nvSpPr>
        <p:spPr>
          <a:xfrm>
            <a:off x="548640" y="4562856"/>
            <a:ext cx="5440680" cy="1243584"/>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700016"/>
            <a:ext cx="64008" cy="96926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672584"/>
            <a:ext cx="5029200" cy="365760"/>
          </a:xfrm>
          <a:prstGeom prst="rect">
            <a:avLst/>
          </a:prstGeom>
          <a:noFill/>
        </p:spPr>
        <p:txBody>
          <a:bodyPr wrap="square" lIns="18288" rIns="18288" tIns="18288" bIns="18288" anchor="t">
            <a:spAutoFit/>
          </a:bodyPr>
          <a:lstStyle/>
          <a:p>
            <a:pPr algn="l">
              <a:lnSpc>
                <a:spcPct val="108000"/>
              </a:lnSpc>
            </a:pPr>
            <a:r>
              <a:rPr sz="1550" b="1" i="0">
                <a:solidFill>
                  <a:srgbClr val="3B82F6"/>
                </a:solidFill>
                <a:latin typeface="Arial"/>
              </a:rPr>
              <a:t>Single-node pseudo-distributed cluster</a:t>
            </a:r>
          </a:p>
        </p:txBody>
      </p:sp>
      <p:sp>
        <p:nvSpPr>
          <p:cNvPr id="27" name="TextBox 26"/>
          <p:cNvSpPr txBox="1"/>
          <p:nvPr/>
        </p:nvSpPr>
        <p:spPr>
          <a:xfrm>
            <a:off x="822959" y="5065776"/>
            <a:ext cx="5029200" cy="73152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No multi-node scaling or cross-machine fault tolerance measured.</a:t>
            </a:r>
          </a:p>
        </p:txBody>
      </p:sp>
      <p:sp>
        <p:nvSpPr>
          <p:cNvPr id="28" name="Rounded Rectangle 27"/>
          <p:cNvSpPr/>
          <p:nvPr/>
        </p:nvSpPr>
        <p:spPr>
          <a:xfrm>
            <a:off x="6153912" y="4562856"/>
            <a:ext cx="5440680" cy="1243584"/>
          </a:xfrm>
          <a:prstGeom prst="roundRect">
            <a:avLst>
              <a:gd name="adj" fmla="val 6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53912" y="4700016"/>
            <a:ext cx="64008" cy="96926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1" y="4672584"/>
            <a:ext cx="5029200" cy="365760"/>
          </a:xfrm>
          <a:prstGeom prst="rect">
            <a:avLst/>
          </a:prstGeom>
          <a:noFill/>
        </p:spPr>
        <p:txBody>
          <a:bodyPr wrap="square" lIns="18288" rIns="18288" tIns="18288" bIns="18288" anchor="t">
            <a:spAutoFit/>
          </a:bodyPr>
          <a:lstStyle/>
          <a:p>
            <a:pPr algn="l">
              <a:lnSpc>
                <a:spcPct val="108000"/>
              </a:lnSpc>
            </a:pPr>
            <a:r>
              <a:rPr sz="1550" b="1" i="0">
                <a:solidFill>
                  <a:srgbClr val="3B82F6"/>
                </a:solidFill>
                <a:latin typeface="Arial"/>
              </a:rPr>
              <a:t>No NWP comparison</a:t>
            </a:r>
          </a:p>
        </p:txBody>
      </p:sp>
      <p:sp>
        <p:nvSpPr>
          <p:cNvPr id="31" name="TextBox 30"/>
          <p:cNvSpPr txBox="1"/>
          <p:nvPr/>
        </p:nvSpPr>
        <p:spPr>
          <a:xfrm>
            <a:off x="6428231" y="5065776"/>
            <a:ext cx="5029200" cy="731520"/>
          </a:xfrm>
          <a:prstGeom prst="rect">
            <a:avLst/>
          </a:prstGeom>
          <a:noFill/>
        </p:spPr>
        <p:txBody>
          <a:bodyPr wrap="square" lIns="18288" rIns="18288" tIns="18288" bIns="18288" anchor="t">
            <a:spAutoFit/>
          </a:bodyPr>
          <a:lstStyle/>
          <a:p>
            <a:pPr algn="l">
              <a:lnSpc>
                <a:spcPct val="105000"/>
              </a:lnSpc>
            </a:pPr>
            <a:r>
              <a:rPr sz="1300" b="0" i="0">
                <a:solidFill>
                  <a:srgbClr val="E8EDF5"/>
                </a:solidFill>
                <a:latin typeface="Arial"/>
              </a:rPr>
              <a:t>No archived 2022 NWP forecasts; short CPU training of neural networks.</a:t>
            </a:r>
          </a:p>
        </p:txBody>
      </p:sp>
      <p:sp>
        <p:nvSpPr>
          <p:cNvPr id="32" name="TextBox 31"/>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5 threats to validity and Ch. 6 limitations; DEVIATIONS.md D1–D8; thesis Table 'Daily LSTM over three random seeds'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ANSWERS TO THE RESEARCH QUESTIONS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Each research question gets a qualified answer backed by evidence</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34</a:t>
            </a: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{5940675A-B579-460E-94D1-54222C63F5DA}</a:tableStyleId>
              </a:tblPr>
              <a:tblGrid>
                <a:gridCol w="822960"/>
                <a:gridCol w="5120640"/>
                <a:gridCol w="5148072"/>
              </a:tblGrid>
              <a:tr h="804672">
                <a:tc>
                  <a:txBody>
                    <a:bodyPr wrap="square"/>
                    <a:lstStyle/>
                    <a:p>
                      <a:r>
                        <a:rPr sz="1400" b="1">
                          <a:solidFill>
                            <a:srgbClr val="F5A524"/>
                          </a:solidFill>
                          <a:latin typeface="Arial"/>
                        </a:rPr>
                        <a:t>RQ</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Answer</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Key evidence</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804672">
                <a:tc>
                  <a:txBody>
                    <a:bodyPr wrap="square"/>
                    <a:lstStyle/>
                    <a:p>
                      <a:r>
                        <a:rPr sz="1400" b="1">
                          <a:solidFill>
                            <a:srgbClr val="E8EDF5"/>
                          </a:solidFill>
                          <a:latin typeface="Arial"/>
                        </a:rPr>
                        <a:t>RQ1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Strong baselines + LSTM/ConvLSTM; streaming Big Data rarely coupled to detectors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99-study review; gaps G1–G6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804672">
                <a:tc>
                  <a:txBody>
                    <a:bodyPr wrap="square"/>
                    <a:lstStyle/>
                    <a:p>
                      <a:r>
                        <a:rPr sz="1400" b="1">
                          <a:solidFill>
                            <a:srgbClr val="E8EDF5"/>
                          </a:solidFill>
                          <a:latin typeface="Arial"/>
                        </a:rPr>
                        <a:t>RQ2</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Partly: yes for hourly and gridded temperature; no for daily Tmax</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LSTM 0.634 vs XGB 0.679 °C (+1 h); SARIMA ≥ LSTM daily</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804672">
                <a:tc>
                  <a:txBody>
                    <a:bodyPr wrap="square"/>
                    <a:lstStyle/>
                    <a:p>
                      <a:r>
                        <a:rPr sz="1400" b="1">
                          <a:solidFill>
                            <a:srgbClr val="E8EDF5"/>
                          </a:solidFill>
                          <a:latin typeface="Arial"/>
                        </a:rPr>
                        <a:t>RQ3</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Partly: timely and robust; skill limited and hazard-dependent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Persistence CSI 0.717 &gt; XGB 0.356; flood +6 h 0.609 (upper bound)</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804672">
                <a:tc>
                  <a:txBody>
                    <a:bodyPr wrap="square"/>
                    <a:lstStyle/>
                    <a:p>
                      <a:r>
                        <a:rPr sz="1400" b="1">
                          <a:solidFill>
                            <a:srgbClr val="E8EDF5"/>
                          </a:solidFill>
                          <a:latin typeface="Arial"/>
                        </a:rPr>
                        <a:t>RQ4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Yes on a single node; not yet shown on a multi-node cluster</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R² 0.9999; 2,739 ev/s; 21,600/21,600 after kill</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TextBox 8"/>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6 'Answers to the Research Questions'; results/*.json; results/bigdata/*.json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CONTRIBUTIONS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Five contributions that others can reuse and verify</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35</a:t>
            </a:r>
          </a:p>
        </p:txBody>
      </p:sp>
      <p:sp>
        <p:nvSpPr>
          <p:cNvPr id="8" name="Rounded Rectangle 7"/>
          <p:cNvSpPr/>
          <p:nvPr/>
        </p:nvSpPr>
        <p:spPr>
          <a:xfrm>
            <a:off x="548640" y="1783080"/>
            <a:ext cx="11091672" cy="713232"/>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83080"/>
            <a:ext cx="548640" cy="713232"/>
          </a:xfrm>
          <a:prstGeom prst="rect">
            <a:avLst/>
          </a:prstGeom>
          <a:noFill/>
        </p:spPr>
        <p:txBody>
          <a:bodyPr wrap="square" lIns="18288" rIns="18288" tIns="18288" bIns="18288" anchor="ctr">
            <a:spAutoFit/>
          </a:bodyPr>
          <a:lstStyle/>
          <a:p>
            <a:pPr algn="l">
              <a:lnSpc>
                <a:spcPct val="108000"/>
              </a:lnSpc>
            </a:pPr>
            <a:r>
              <a:rPr sz="2200" b="1" i="0">
                <a:solidFill>
                  <a:srgbClr val="A78BFA"/>
                </a:solidFill>
                <a:latin typeface="Arial"/>
              </a:rPr>
              <a:t>1</a:t>
            </a:r>
          </a:p>
        </p:txBody>
      </p:sp>
      <p:sp>
        <p:nvSpPr>
          <p:cNvPr id="10" name="TextBox 9"/>
          <p:cNvSpPr txBox="1"/>
          <p:nvPr/>
        </p:nvSpPr>
        <p:spPr>
          <a:xfrm>
            <a:off x="1325880" y="1783080"/>
            <a:ext cx="10149840" cy="713232"/>
          </a:xfrm>
          <a:prstGeom prst="rect">
            <a:avLst/>
          </a:prstGeom>
          <a:noFill/>
        </p:spPr>
        <p:txBody>
          <a:bodyPr wrap="square" lIns="18288" rIns="18288" tIns="18288" bIns="18288" anchor="ctr">
            <a:spAutoFit/>
          </a:bodyPr>
          <a:lstStyle/>
          <a:p>
            <a:pPr algn="l">
              <a:lnSpc>
                <a:spcPct val="108000"/>
              </a:lnSpc>
            </a:pPr>
            <a:r>
              <a:rPr sz="1550" b="0" i="0">
                <a:solidFill>
                  <a:srgbClr val="E8EDF5"/>
                </a:solidFill>
                <a:latin typeface="Arial"/>
              </a:rPr>
              <a:t>An end-to-end open-source pipeline coupling streaming ingestion to trained heatwave and flash-flood-risk detectors (G1, G4).</a:t>
            </a:r>
          </a:p>
        </p:txBody>
      </p:sp>
      <p:sp>
        <p:nvSpPr>
          <p:cNvPr id="11" name="Rounded Rectangle 10"/>
          <p:cNvSpPr/>
          <p:nvPr/>
        </p:nvSpPr>
        <p:spPr>
          <a:xfrm>
            <a:off x="548640" y="2606040"/>
            <a:ext cx="11091672" cy="713232"/>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06040"/>
            <a:ext cx="548640" cy="713232"/>
          </a:xfrm>
          <a:prstGeom prst="rect">
            <a:avLst/>
          </a:prstGeom>
          <a:noFill/>
        </p:spPr>
        <p:txBody>
          <a:bodyPr wrap="square" lIns="18288" rIns="18288" tIns="18288" bIns="18288" anchor="ctr">
            <a:spAutoFit/>
          </a:bodyPr>
          <a:lstStyle/>
          <a:p>
            <a:pPr algn="l">
              <a:lnSpc>
                <a:spcPct val="108000"/>
              </a:lnSpc>
            </a:pPr>
            <a:r>
              <a:rPr sz="2200" b="1" i="0">
                <a:solidFill>
                  <a:srgbClr val="A78BFA"/>
                </a:solidFill>
                <a:latin typeface="Arial"/>
              </a:rPr>
              <a:t>2</a:t>
            </a:r>
          </a:p>
        </p:txBody>
      </p:sp>
      <p:sp>
        <p:nvSpPr>
          <p:cNvPr id="13" name="TextBox 12"/>
          <p:cNvSpPr txBox="1"/>
          <p:nvPr/>
        </p:nvSpPr>
        <p:spPr>
          <a:xfrm>
            <a:off x="1325880" y="2606040"/>
            <a:ext cx="10149840" cy="713232"/>
          </a:xfrm>
          <a:prstGeom prst="rect">
            <a:avLst/>
          </a:prstGeom>
          <a:noFill/>
        </p:spPr>
        <p:txBody>
          <a:bodyPr wrap="square" lIns="18288" rIns="18288" tIns="18288" bIns="18288" anchor="ctr">
            <a:spAutoFit/>
          </a:bodyPr>
          <a:lstStyle/>
          <a:p>
            <a:pPr algn="l">
              <a:lnSpc>
                <a:spcPct val="108000"/>
              </a:lnSpc>
            </a:pPr>
            <a:r>
              <a:rPr sz="1550" b="0" i="0">
                <a:solidFill>
                  <a:srgbClr val="E8EDF5"/>
                </a:solidFill>
                <a:latin typeface="Arial"/>
              </a:rPr>
              <a:t>Latency, throughput and fault tolerance reported next to RMSE and CSI (G2).</a:t>
            </a:r>
          </a:p>
        </p:txBody>
      </p:sp>
      <p:sp>
        <p:nvSpPr>
          <p:cNvPr id="14" name="Rounded Rectangle 13"/>
          <p:cNvSpPr/>
          <p:nvPr/>
        </p:nvSpPr>
        <p:spPr>
          <a:xfrm>
            <a:off x="548640" y="3429000"/>
            <a:ext cx="11091672" cy="713232"/>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429000"/>
            <a:ext cx="548640" cy="713232"/>
          </a:xfrm>
          <a:prstGeom prst="rect">
            <a:avLst/>
          </a:prstGeom>
          <a:noFill/>
        </p:spPr>
        <p:txBody>
          <a:bodyPr wrap="square" lIns="18288" rIns="18288" tIns="18288" bIns="18288" anchor="ctr">
            <a:spAutoFit/>
          </a:bodyPr>
          <a:lstStyle/>
          <a:p>
            <a:pPr algn="l">
              <a:lnSpc>
                <a:spcPct val="108000"/>
              </a:lnSpc>
            </a:pPr>
            <a:r>
              <a:rPr sz="2200" b="1" i="0">
                <a:solidFill>
                  <a:srgbClr val="A78BFA"/>
                </a:solidFill>
                <a:latin typeface="Arial"/>
              </a:rPr>
              <a:t>3</a:t>
            </a:r>
          </a:p>
        </p:txBody>
      </p:sp>
      <p:sp>
        <p:nvSpPr>
          <p:cNvPr id="16" name="TextBox 15"/>
          <p:cNvSpPr txBox="1"/>
          <p:nvPr/>
        </p:nvSpPr>
        <p:spPr>
          <a:xfrm>
            <a:off x="1325880" y="3429000"/>
            <a:ext cx="10149840" cy="713232"/>
          </a:xfrm>
          <a:prstGeom prst="rect">
            <a:avLst/>
          </a:prstGeom>
          <a:noFill/>
        </p:spPr>
        <p:txBody>
          <a:bodyPr wrap="square" lIns="18288" rIns="18288" tIns="18288" bIns="18288" anchor="ctr">
            <a:spAutoFit/>
          </a:bodyPr>
          <a:lstStyle/>
          <a:p>
            <a:pPr algn="l">
              <a:lnSpc>
                <a:spcPct val="108000"/>
              </a:lnSpc>
            </a:pPr>
            <a:r>
              <a:rPr sz="1550" b="0" i="0">
                <a:solidFill>
                  <a:srgbClr val="E8EDF5"/>
                </a:solidFill>
                <a:latin typeface="Arial"/>
              </a:rPr>
              <a:t>An honest benchmark against persistence, climatology, SARIMA and XGBoost with Holm-corrected significance tests.</a:t>
            </a:r>
          </a:p>
        </p:txBody>
      </p:sp>
      <p:sp>
        <p:nvSpPr>
          <p:cNvPr id="17" name="Rounded Rectangle 16"/>
          <p:cNvSpPr/>
          <p:nvPr/>
        </p:nvSpPr>
        <p:spPr>
          <a:xfrm>
            <a:off x="548640" y="4251960"/>
            <a:ext cx="11091672" cy="713232"/>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251960"/>
            <a:ext cx="548640" cy="713232"/>
          </a:xfrm>
          <a:prstGeom prst="rect">
            <a:avLst/>
          </a:prstGeom>
          <a:noFill/>
        </p:spPr>
        <p:txBody>
          <a:bodyPr wrap="square" lIns="18288" rIns="18288" tIns="18288" bIns="18288" anchor="ctr">
            <a:spAutoFit/>
          </a:bodyPr>
          <a:lstStyle/>
          <a:p>
            <a:pPr algn="l">
              <a:lnSpc>
                <a:spcPct val="108000"/>
              </a:lnSpc>
            </a:pPr>
            <a:r>
              <a:rPr sz="2200" b="1" i="0">
                <a:solidFill>
                  <a:srgbClr val="A78BFA"/>
                </a:solidFill>
                <a:latin typeface="Arial"/>
              </a:rPr>
              <a:t>4</a:t>
            </a:r>
          </a:p>
        </p:txBody>
      </p:sp>
      <p:sp>
        <p:nvSpPr>
          <p:cNvPr id="19" name="TextBox 18"/>
          <p:cNvSpPr txBox="1"/>
          <p:nvPr/>
        </p:nvSpPr>
        <p:spPr>
          <a:xfrm>
            <a:off x="1325880" y="4251960"/>
            <a:ext cx="10149840" cy="713232"/>
          </a:xfrm>
          <a:prstGeom prst="rect">
            <a:avLst/>
          </a:prstGeom>
          <a:noFill/>
        </p:spPr>
        <p:txBody>
          <a:bodyPr wrap="square" lIns="18288" rIns="18288" tIns="18288" bIns="18288" anchor="ctr">
            <a:spAutoFit/>
          </a:bodyPr>
          <a:lstStyle/>
          <a:p>
            <a:pPr algn="l">
              <a:lnSpc>
                <a:spcPct val="108000"/>
              </a:lnSpc>
            </a:pPr>
            <a:r>
              <a:rPr sz="1550" b="0" i="0">
                <a:solidFill>
                  <a:srgbClr val="E8EDF5"/>
                </a:solidFill>
                <a:latin typeface="Arial"/>
              </a:rPr>
              <a:t>Spark ETL parity (8/8 tables) and exactly-once HDFS sink verified on a single-node Hadoop/YARN/Spark/Kafka stack.</a:t>
            </a:r>
          </a:p>
        </p:txBody>
      </p:sp>
      <p:sp>
        <p:nvSpPr>
          <p:cNvPr id="20" name="Rounded Rectangle 19"/>
          <p:cNvSpPr/>
          <p:nvPr/>
        </p:nvSpPr>
        <p:spPr>
          <a:xfrm>
            <a:off x="548640" y="5074920"/>
            <a:ext cx="11091672" cy="713232"/>
          </a:xfrm>
          <a:prstGeom prst="roundRect">
            <a:avLst>
              <a:gd name="adj" fmla="val 10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074920"/>
            <a:ext cx="548640" cy="713232"/>
          </a:xfrm>
          <a:prstGeom prst="rect">
            <a:avLst/>
          </a:prstGeom>
          <a:noFill/>
        </p:spPr>
        <p:txBody>
          <a:bodyPr wrap="square" lIns="18288" rIns="18288" tIns="18288" bIns="18288" anchor="ctr">
            <a:spAutoFit/>
          </a:bodyPr>
          <a:lstStyle/>
          <a:p>
            <a:pPr algn="l">
              <a:lnSpc>
                <a:spcPct val="108000"/>
              </a:lnSpc>
            </a:pPr>
            <a:r>
              <a:rPr sz="2200" b="1" i="0">
                <a:solidFill>
                  <a:srgbClr val="A78BFA"/>
                </a:solidFill>
                <a:latin typeface="Arial"/>
              </a:rPr>
              <a:t>5</a:t>
            </a:r>
          </a:p>
        </p:txBody>
      </p:sp>
      <p:sp>
        <p:nvSpPr>
          <p:cNvPr id="22" name="TextBox 21"/>
          <p:cNvSpPr txBox="1"/>
          <p:nvPr/>
        </p:nvSpPr>
        <p:spPr>
          <a:xfrm>
            <a:off x="1325880" y="5074920"/>
            <a:ext cx="10149840" cy="713232"/>
          </a:xfrm>
          <a:prstGeom prst="rect">
            <a:avLst/>
          </a:prstGeom>
          <a:noFill/>
        </p:spPr>
        <p:txBody>
          <a:bodyPr wrap="square" lIns="18288" rIns="18288" tIns="18288" bIns="18288" anchor="ctr">
            <a:spAutoFit/>
          </a:bodyPr>
          <a:lstStyle/>
          <a:p>
            <a:pPr algn="l">
              <a:lnSpc>
                <a:spcPct val="108000"/>
              </a:lnSpc>
            </a:pPr>
            <a:r>
              <a:rPr sz="1550" b="0" i="0">
                <a:solidFill>
                  <a:srgbClr val="E8EDF5"/>
                </a:solidFill>
                <a:latin typeface="Arial"/>
              </a:rPr>
              <a:t>Public, reproducible artefacts: tagged GitHub release with CI and tests, plus a live site refreshed every 6 hours.</a:t>
            </a:r>
          </a:p>
        </p:txBody>
      </p:sp>
      <p:sp>
        <p:nvSpPr>
          <p:cNvPr id="23" name="TextBox 22"/>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6 contributions; github.com/SirAseef/heatflood-sentinel (release v0.1.0); results/bigdata/RUN_LOG.md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A78BFA"/>
                </a:solidFill>
                <a:latin typeface="Arial"/>
              </a:rPr>
              <a:t>FUTURE WORK</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Next steps close the gaps this thesis could not</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36</a:t>
            </a:r>
          </a:p>
        </p:txBody>
      </p:sp>
      <p:sp>
        <p:nvSpPr>
          <p:cNvPr id="8" name="Rounded Rectangle 7"/>
          <p:cNvSpPr/>
          <p:nvPr/>
        </p:nvSpPr>
        <p:spPr>
          <a:xfrm>
            <a:off x="548640" y="1783080"/>
            <a:ext cx="3566160" cy="19202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783080"/>
            <a:ext cx="3566160" cy="5486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47672"/>
            <a:ext cx="3200400" cy="411480"/>
          </a:xfrm>
          <a:prstGeom prst="rect">
            <a:avLst/>
          </a:prstGeom>
          <a:noFill/>
        </p:spPr>
        <p:txBody>
          <a:bodyPr wrap="square" lIns="18288" rIns="18288" tIns="18288" bIns="18288" anchor="t">
            <a:spAutoFit/>
          </a:bodyPr>
          <a:lstStyle/>
          <a:p>
            <a:pPr algn="l">
              <a:lnSpc>
                <a:spcPct val="108000"/>
              </a:lnSpc>
            </a:pPr>
            <a:r>
              <a:rPr sz="1550" b="1" i="0">
                <a:solidFill>
                  <a:srgbClr val="E5484D"/>
                </a:solidFill>
                <a:latin typeface="Arial"/>
              </a:rPr>
              <a:t>Ground truth</a:t>
            </a:r>
          </a:p>
        </p:txBody>
      </p:sp>
      <p:sp>
        <p:nvSpPr>
          <p:cNvPr id="11" name="TextBox 10"/>
          <p:cNvSpPr txBox="1"/>
          <p:nvPr/>
        </p:nvSpPr>
        <p:spPr>
          <a:xfrm>
            <a:off x="731520" y="2377440"/>
            <a:ext cx="3200400" cy="12344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Validate against PMD stations; replace proxies with NDMA/PDMA flood-event records.</a:t>
            </a:r>
          </a:p>
        </p:txBody>
      </p:sp>
      <p:sp>
        <p:nvSpPr>
          <p:cNvPr id="12" name="Rounded Rectangle 11"/>
          <p:cNvSpPr/>
          <p:nvPr/>
        </p:nvSpPr>
        <p:spPr>
          <a:xfrm>
            <a:off x="4306824" y="1783080"/>
            <a:ext cx="3566160" cy="19202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6824" y="1783080"/>
            <a:ext cx="3566160" cy="5486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4" y="1947672"/>
            <a:ext cx="3200400" cy="411480"/>
          </a:xfrm>
          <a:prstGeom prst="rect">
            <a:avLst/>
          </a:prstGeom>
          <a:noFill/>
        </p:spPr>
        <p:txBody>
          <a:bodyPr wrap="square" lIns="18288" rIns="18288" tIns="18288" bIns="18288" anchor="t">
            <a:spAutoFit/>
          </a:bodyPr>
          <a:lstStyle/>
          <a:p>
            <a:pPr algn="l">
              <a:lnSpc>
                <a:spcPct val="108000"/>
              </a:lnSpc>
            </a:pPr>
            <a:r>
              <a:rPr sz="1550" b="1" i="0">
                <a:solidFill>
                  <a:srgbClr val="F5A524"/>
                </a:solidFill>
                <a:latin typeface="Arial"/>
              </a:rPr>
              <a:t>1990–2026 record</a:t>
            </a:r>
          </a:p>
        </p:txBody>
      </p:sp>
      <p:sp>
        <p:nvSpPr>
          <p:cNvPr id="15" name="TextBox 14"/>
          <p:cNvSpPr txBox="1"/>
          <p:nvPr/>
        </p:nvSpPr>
        <p:spPr>
          <a:xfrm>
            <a:off x="4489704" y="2377440"/>
            <a:ext cx="3200400" cy="12344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Finish the download, rebuild the lake on HDFS and retrain on the full period.</a:t>
            </a:r>
          </a:p>
        </p:txBody>
      </p:sp>
      <p:sp>
        <p:nvSpPr>
          <p:cNvPr id="16" name="Rounded Rectangle 15"/>
          <p:cNvSpPr/>
          <p:nvPr/>
        </p:nvSpPr>
        <p:spPr>
          <a:xfrm>
            <a:off x="8065008" y="1783080"/>
            <a:ext cx="3566160" cy="19202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5008" y="1783080"/>
            <a:ext cx="3566160" cy="5486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47672"/>
            <a:ext cx="3200400" cy="411480"/>
          </a:xfrm>
          <a:prstGeom prst="rect">
            <a:avLst/>
          </a:prstGeom>
          <a:noFill/>
        </p:spPr>
        <p:txBody>
          <a:bodyPr wrap="square" lIns="18288" rIns="18288" tIns="18288" bIns="18288" anchor="t">
            <a:spAutoFit/>
          </a:bodyPr>
          <a:lstStyle/>
          <a:p>
            <a:pPr algn="l">
              <a:lnSpc>
                <a:spcPct val="108000"/>
              </a:lnSpc>
            </a:pPr>
            <a:r>
              <a:rPr sz="1550" b="1" i="0">
                <a:solidFill>
                  <a:srgbClr val="F5A524"/>
                </a:solidFill>
                <a:latin typeface="Arial"/>
              </a:rPr>
              <a:t>Extreme-aware learning</a:t>
            </a:r>
          </a:p>
        </p:txBody>
      </p:sp>
      <p:sp>
        <p:nvSpPr>
          <p:cNvPr id="19" name="TextBox 18"/>
          <p:cNvSpPr txBox="1"/>
          <p:nvPr/>
        </p:nvSpPr>
        <p:spPr>
          <a:xfrm>
            <a:off x="8247888" y="2377440"/>
            <a:ext cx="3200400" cy="12344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Quantile or extreme-value losses; recalibrate seasonal, POD-constrained thresholds.</a:t>
            </a:r>
          </a:p>
        </p:txBody>
      </p:sp>
      <p:sp>
        <p:nvSpPr>
          <p:cNvPr id="20" name="Rounded Rectangle 19"/>
          <p:cNvSpPr/>
          <p:nvPr/>
        </p:nvSpPr>
        <p:spPr>
          <a:xfrm>
            <a:off x="548640" y="3886200"/>
            <a:ext cx="3566160" cy="19202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86200"/>
            <a:ext cx="356616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50791"/>
            <a:ext cx="3200400" cy="411480"/>
          </a:xfrm>
          <a:prstGeom prst="rect">
            <a:avLst/>
          </a:prstGeom>
          <a:noFill/>
        </p:spPr>
        <p:txBody>
          <a:bodyPr wrap="square" lIns="18288" rIns="18288" tIns="18288" bIns="18288" anchor="t">
            <a:spAutoFit/>
          </a:bodyPr>
          <a:lstStyle/>
          <a:p>
            <a:pPr algn="l">
              <a:lnSpc>
                <a:spcPct val="108000"/>
              </a:lnSpc>
            </a:pPr>
            <a:r>
              <a:rPr sz="1550" b="1" i="0">
                <a:solidFill>
                  <a:srgbClr val="14B8A6"/>
                </a:solidFill>
                <a:latin typeface="Arial"/>
              </a:rPr>
              <a:t>NWP and global models</a:t>
            </a:r>
          </a:p>
        </p:txBody>
      </p:sp>
      <p:sp>
        <p:nvSpPr>
          <p:cNvPr id="23" name="TextBox 22"/>
          <p:cNvSpPr txBox="1"/>
          <p:nvPr/>
        </p:nvSpPr>
        <p:spPr>
          <a:xfrm>
            <a:off x="731520" y="4480560"/>
            <a:ext cx="3200400" cy="12344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Benchmark archived NWP, GraphCast and Pangu-Weather for Pakistan (G5).</a:t>
            </a:r>
          </a:p>
        </p:txBody>
      </p:sp>
      <p:sp>
        <p:nvSpPr>
          <p:cNvPr id="24" name="Rounded Rectangle 23"/>
          <p:cNvSpPr/>
          <p:nvPr/>
        </p:nvSpPr>
        <p:spPr>
          <a:xfrm>
            <a:off x="4306824" y="3886200"/>
            <a:ext cx="3566160" cy="19202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6824" y="3886200"/>
            <a:ext cx="3566160" cy="5486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050791"/>
            <a:ext cx="3200400" cy="411480"/>
          </a:xfrm>
          <a:prstGeom prst="rect">
            <a:avLst/>
          </a:prstGeom>
          <a:noFill/>
        </p:spPr>
        <p:txBody>
          <a:bodyPr wrap="square" lIns="18288" rIns="18288" tIns="18288" bIns="18288" anchor="t">
            <a:spAutoFit/>
          </a:bodyPr>
          <a:lstStyle/>
          <a:p>
            <a:pPr algn="l">
              <a:lnSpc>
                <a:spcPct val="108000"/>
              </a:lnSpc>
            </a:pPr>
            <a:r>
              <a:rPr sz="1550" b="1" i="0">
                <a:solidFill>
                  <a:srgbClr val="3B82F6"/>
                </a:solidFill>
                <a:latin typeface="Arial"/>
              </a:rPr>
              <a:t>Multi-node cluster</a:t>
            </a:r>
          </a:p>
        </p:txBody>
      </p:sp>
      <p:sp>
        <p:nvSpPr>
          <p:cNvPr id="27" name="TextBox 26"/>
          <p:cNvSpPr txBox="1"/>
          <p:nvPr/>
        </p:nvSpPr>
        <p:spPr>
          <a:xfrm>
            <a:off x="4489704" y="4480560"/>
            <a:ext cx="3200400" cy="12344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Run multi-broker Kafka and multi-worker Spark; test node-failure tolerance.</a:t>
            </a:r>
          </a:p>
        </p:txBody>
      </p:sp>
      <p:sp>
        <p:nvSpPr>
          <p:cNvPr id="28" name="Rounded Rectangle 27"/>
          <p:cNvSpPr/>
          <p:nvPr/>
        </p:nvSpPr>
        <p:spPr>
          <a:xfrm>
            <a:off x="8065008" y="3886200"/>
            <a:ext cx="3566160" cy="1920240"/>
          </a:xfrm>
          <a:prstGeom prst="roundRect">
            <a:avLst>
              <a:gd name="adj" fmla="val 5000"/>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5008" y="3886200"/>
            <a:ext cx="3566160" cy="5486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4050791"/>
            <a:ext cx="3200400" cy="411480"/>
          </a:xfrm>
          <a:prstGeom prst="rect">
            <a:avLst/>
          </a:prstGeom>
          <a:noFill/>
        </p:spPr>
        <p:txBody>
          <a:bodyPr wrap="square" lIns="18288" rIns="18288" tIns="18288" bIns="18288" anchor="t">
            <a:spAutoFit/>
          </a:bodyPr>
          <a:lstStyle/>
          <a:p>
            <a:pPr algn="l">
              <a:lnSpc>
                <a:spcPct val="108000"/>
              </a:lnSpc>
            </a:pPr>
            <a:r>
              <a:rPr sz="1550" b="1" i="0">
                <a:solidFill>
                  <a:srgbClr val="A78BFA"/>
                </a:solidFill>
                <a:latin typeface="Arial"/>
              </a:rPr>
              <a:t>More architectures and hazards</a:t>
            </a:r>
          </a:p>
        </p:txBody>
      </p:sp>
      <p:sp>
        <p:nvSpPr>
          <p:cNvPr id="31" name="TextBox 30"/>
          <p:cNvSpPr txBox="1"/>
          <p:nvPr/>
        </p:nvSpPr>
        <p:spPr>
          <a:xfrm>
            <a:off x="8247888" y="4480560"/>
            <a:ext cx="3200400" cy="1234440"/>
          </a:xfrm>
          <a:prstGeom prst="rect">
            <a:avLst/>
          </a:prstGeom>
          <a:noFill/>
        </p:spPr>
        <p:txBody>
          <a:bodyPr wrap="square" lIns="18288" rIns="18288" tIns="18288" bIns="18288" anchor="t">
            <a:spAutoFit/>
          </a:bodyPr>
          <a:lstStyle/>
          <a:p>
            <a:pPr algn="l">
              <a:lnSpc>
                <a:spcPct val="108000"/>
              </a:lnSpc>
            </a:pPr>
            <a:r>
              <a:rPr sz="1350" b="0" i="0">
                <a:solidFill>
                  <a:srgbClr val="E8EDF5"/>
                </a:solidFill>
                <a:latin typeface="Arial"/>
              </a:rPr>
              <a:t>Attention and graph models; drought and cold waves.</a:t>
            </a:r>
          </a:p>
        </p:txBody>
      </p:sp>
      <p:sp>
        <p:nvSpPr>
          <p:cNvPr id="32" name="TextBox 31"/>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Thesis Ch. 6 future work; DEVIATIONS.md D8 (data extension status)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274320"/>
          </a:xfrm>
          <a:prstGeom prst="rect">
            <a:avLst/>
          </a:prstGeom>
          <a:noFill/>
        </p:spPr>
        <p:txBody>
          <a:bodyPr wrap="square" lIns="18288" rIns="18288" tIns="18288" bIns="18288" anchor="t">
            <a:spAutoFit/>
          </a:bodyPr>
          <a:lstStyle/>
          <a:p>
            <a:pPr algn="l">
              <a:lnSpc>
                <a:spcPct val="108000"/>
              </a:lnSpc>
            </a:pPr>
            <a:r>
              <a:rPr sz="1150" b="1" i="0">
                <a:solidFill>
                  <a:srgbClr val="F5A524"/>
                </a:solidFill>
                <a:latin typeface="Arial"/>
              </a:rPr>
              <a:t>CONCLUSION</a:t>
            </a:r>
          </a:p>
        </p:txBody>
      </p:sp>
      <p:sp>
        <p:nvSpPr>
          <p:cNvPr id="4" name="TextBox 3"/>
          <p:cNvSpPr txBox="1"/>
          <p:nvPr/>
        </p:nvSpPr>
        <p:spPr>
          <a:xfrm>
            <a:off x="548640" y="685800"/>
            <a:ext cx="7498079" cy="1463040"/>
          </a:xfrm>
          <a:prstGeom prst="rect">
            <a:avLst/>
          </a:prstGeom>
          <a:noFill/>
        </p:spPr>
        <p:txBody>
          <a:bodyPr wrap="square" lIns="18288" rIns="18288" tIns="18288" bIns="18288" anchor="t">
            <a:spAutoFit/>
          </a:bodyPr>
          <a:lstStyle/>
          <a:p>
            <a:pPr algn="l">
              <a:lnSpc>
                <a:spcPct val="102000"/>
              </a:lnSpc>
            </a:pPr>
            <a:r>
              <a:rPr sz="2700" b="1" i="0">
                <a:solidFill>
                  <a:srgbClr val="E8EDF5"/>
                </a:solidFill>
                <a:latin typeface="Arial"/>
              </a:rPr>
              <a:t>I request approval of the thesis as a reproducible and honestly bounded early-warning baseline for Pakistan</a:t>
            </a:r>
          </a:p>
        </p:txBody>
      </p:sp>
      <p:sp>
        <p:nvSpPr>
          <p:cNvPr id="5" name="TextBox 4"/>
          <p:cNvSpPr txBox="1"/>
          <p:nvPr/>
        </p:nvSpPr>
        <p:spPr>
          <a:xfrm>
            <a:off x="548640" y="2514600"/>
            <a:ext cx="6949440" cy="2377440"/>
          </a:xfrm>
          <a:prstGeom prst="rect">
            <a:avLst/>
          </a:prstGeom>
          <a:noFill/>
        </p:spPr>
        <p:txBody>
          <a:bodyPr wrap="square" lIns="18288" rIns="18288" tIns="18288" bIns="18288">
            <a:spAutoFit/>
          </a:bodyPr>
          <a:lstStyle/>
          <a:p>
            <a:pPr>
              <a:lnSpc>
                <a:spcPct val="105000"/>
              </a:lnSpc>
              <a:spcAft>
                <a:spcPts val="900"/>
              </a:spcAft>
            </a:pPr>
            <a:r>
              <a:rPr sz="1200">
                <a:solidFill>
                  <a:srgbClr val="F5A524"/>
                </a:solidFill>
                <a:latin typeface="Arial"/>
              </a:rPr>
              <a:t>■  </a:t>
            </a:r>
            <a:r>
              <a:rPr sz="1600" b="0">
                <a:solidFill>
                  <a:srgbClr val="E8EDF5"/>
                </a:solidFill>
                <a:latin typeface="Arial"/>
              </a:rPr>
              <a:t>Deep learning helps for hourly and gridded temperature</a:t>
            </a:r>
          </a:p>
          <a:p>
            <a:pPr>
              <a:lnSpc>
                <a:spcPct val="105000"/>
              </a:lnSpc>
              <a:spcAft>
                <a:spcPts val="900"/>
              </a:spcAft>
            </a:pPr>
            <a:r>
              <a:rPr sz="1200">
                <a:solidFill>
                  <a:srgbClr val="F5A524"/>
                </a:solidFill>
                <a:latin typeface="Arial"/>
              </a:rPr>
              <a:t>■  </a:t>
            </a:r>
            <a:r>
              <a:rPr sz="1600" b="0">
                <a:solidFill>
                  <a:srgbClr val="E8EDF5"/>
                </a:solidFill>
                <a:latin typeface="Arial"/>
              </a:rPr>
              <a:t>Persistence remains the bar for next-day heatwaves</a:t>
            </a:r>
          </a:p>
          <a:p>
            <a:pPr>
              <a:lnSpc>
                <a:spcPct val="105000"/>
              </a:lnSpc>
              <a:spcAft>
                <a:spcPts val="900"/>
              </a:spcAft>
            </a:pPr>
            <a:r>
              <a:rPr sz="1200">
                <a:solidFill>
                  <a:srgbClr val="F5A524"/>
                </a:solidFill>
                <a:latin typeface="Arial"/>
              </a:rPr>
              <a:t>■  </a:t>
            </a:r>
            <a:r>
              <a:rPr sz="1600" b="0">
                <a:solidFill>
                  <a:srgbClr val="E8EDF5"/>
                </a:solidFill>
                <a:latin typeface="Arial"/>
              </a:rPr>
              <a:t>Streaming is timely and lossless on a single-node pseudo-distributed cluster</a:t>
            </a:r>
          </a:p>
          <a:p>
            <a:pPr>
              <a:lnSpc>
                <a:spcPct val="105000"/>
              </a:lnSpc>
              <a:spcAft>
                <a:spcPts val="900"/>
              </a:spcAft>
            </a:pPr>
            <a:r>
              <a:rPr sz="1200">
                <a:solidFill>
                  <a:srgbClr val="F5A524"/>
                </a:solidFill>
                <a:latin typeface="Arial"/>
              </a:rPr>
              <a:t>■  </a:t>
            </a:r>
            <a:r>
              <a:rPr sz="1600" b="0">
                <a:solidFill>
                  <a:srgbClr val="E8EDF5"/>
                </a:solidFill>
                <a:latin typeface="Arial"/>
              </a:rPr>
              <a:t>Next: PMD ground truth, 1990–2026 record, multi-node cluster</a:t>
            </a:r>
          </a:p>
        </p:txBody>
      </p:sp>
      <p:sp>
        <p:nvSpPr>
          <p:cNvPr id="6" name="Rounded Rectangle 5"/>
          <p:cNvSpPr/>
          <p:nvPr/>
        </p:nvSpPr>
        <p:spPr>
          <a:xfrm>
            <a:off x="7927848" y="868680"/>
            <a:ext cx="1792224" cy="179222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site.png"/>
          <p:cNvPicPr>
            <a:picLocks noChangeAspect="1"/>
          </p:cNvPicPr>
          <p:nvPr/>
        </p:nvPicPr>
        <p:blipFill>
          <a:blip r:embed="rId2"/>
          <a:stretch>
            <a:fillRect/>
          </a:stretch>
        </p:blipFill>
        <p:spPr>
          <a:xfrm>
            <a:off x="8001000" y="941832"/>
            <a:ext cx="1645920" cy="1645920"/>
          </a:xfrm>
          <a:prstGeom prst="rect">
            <a:avLst/>
          </a:prstGeom>
        </p:spPr>
      </p:pic>
      <p:sp>
        <p:nvSpPr>
          <p:cNvPr id="8" name="TextBox 7"/>
          <p:cNvSpPr txBox="1"/>
          <p:nvPr/>
        </p:nvSpPr>
        <p:spPr>
          <a:xfrm>
            <a:off x="7909560" y="2743200"/>
            <a:ext cx="1828800" cy="274320"/>
          </a:xfrm>
          <a:prstGeom prst="rect">
            <a:avLst/>
          </a:prstGeom>
          <a:noFill/>
        </p:spPr>
        <p:txBody>
          <a:bodyPr wrap="square" lIns="18288" rIns="18288" tIns="18288" bIns="18288" anchor="t">
            <a:spAutoFit/>
          </a:bodyPr>
          <a:lstStyle/>
          <a:p>
            <a:pPr algn="ctr">
              <a:lnSpc>
                <a:spcPct val="108000"/>
              </a:lnSpc>
            </a:pPr>
            <a:r>
              <a:rPr sz="1300" b="1" i="0">
                <a:solidFill>
                  <a:srgbClr val="E8EDF5"/>
                </a:solidFill>
                <a:latin typeface="Arial"/>
              </a:rPr>
              <a:t>Live site</a:t>
            </a:r>
          </a:p>
        </p:txBody>
      </p:sp>
      <p:sp>
        <p:nvSpPr>
          <p:cNvPr id="9" name="TextBox 8"/>
          <p:cNvSpPr txBox="1"/>
          <p:nvPr/>
        </p:nvSpPr>
        <p:spPr>
          <a:xfrm>
            <a:off x="7863840" y="3017520"/>
            <a:ext cx="1920240" cy="548640"/>
          </a:xfrm>
          <a:prstGeom prst="rect">
            <a:avLst/>
          </a:prstGeom>
          <a:noFill/>
        </p:spPr>
        <p:txBody>
          <a:bodyPr wrap="square" lIns="18288" rIns="18288" tIns="18288" bIns="18288" anchor="t">
            <a:spAutoFit/>
          </a:bodyPr>
          <a:lstStyle/>
          <a:p>
            <a:pPr algn="ctr">
              <a:lnSpc>
                <a:spcPct val="108000"/>
              </a:lnSpc>
            </a:pPr>
            <a:r>
              <a:rPr sz="950" b="0" i="0">
                <a:solidFill>
                  <a:srgbClr val="9AA7B8"/>
                </a:solidFill>
                <a:latin typeface="Arial"/>
              </a:rPr>
              <a:t>siraseef.github.io/heatflood-sentinel</a:t>
            </a:r>
          </a:p>
        </p:txBody>
      </p:sp>
      <p:sp>
        <p:nvSpPr>
          <p:cNvPr id="10" name="Rounded Rectangle 9"/>
          <p:cNvSpPr/>
          <p:nvPr/>
        </p:nvSpPr>
        <p:spPr>
          <a:xfrm>
            <a:off x="9848088" y="868680"/>
            <a:ext cx="1792224" cy="179222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r_repo.png"/>
          <p:cNvPicPr>
            <a:picLocks noChangeAspect="1"/>
          </p:cNvPicPr>
          <p:nvPr/>
        </p:nvPicPr>
        <p:blipFill>
          <a:blip r:embed="rId3"/>
          <a:stretch>
            <a:fillRect/>
          </a:stretch>
        </p:blipFill>
        <p:spPr>
          <a:xfrm>
            <a:off x="9921240" y="941832"/>
            <a:ext cx="1645920" cy="1645920"/>
          </a:xfrm>
          <a:prstGeom prst="rect">
            <a:avLst/>
          </a:prstGeom>
        </p:spPr>
      </p:pic>
      <p:sp>
        <p:nvSpPr>
          <p:cNvPr id="12" name="TextBox 11"/>
          <p:cNvSpPr txBox="1"/>
          <p:nvPr/>
        </p:nvSpPr>
        <p:spPr>
          <a:xfrm>
            <a:off x="9829800" y="2743200"/>
            <a:ext cx="1828800" cy="274320"/>
          </a:xfrm>
          <a:prstGeom prst="rect">
            <a:avLst/>
          </a:prstGeom>
          <a:noFill/>
        </p:spPr>
        <p:txBody>
          <a:bodyPr wrap="square" lIns="18288" rIns="18288" tIns="18288" bIns="18288" anchor="t">
            <a:spAutoFit/>
          </a:bodyPr>
          <a:lstStyle/>
          <a:p>
            <a:pPr algn="ctr">
              <a:lnSpc>
                <a:spcPct val="108000"/>
              </a:lnSpc>
            </a:pPr>
            <a:r>
              <a:rPr sz="1300" b="1" i="0">
                <a:solidFill>
                  <a:srgbClr val="E8EDF5"/>
                </a:solidFill>
                <a:latin typeface="Arial"/>
              </a:rPr>
              <a:t>Code repository</a:t>
            </a:r>
          </a:p>
        </p:txBody>
      </p:sp>
      <p:sp>
        <p:nvSpPr>
          <p:cNvPr id="13" name="TextBox 12"/>
          <p:cNvSpPr txBox="1"/>
          <p:nvPr/>
        </p:nvSpPr>
        <p:spPr>
          <a:xfrm>
            <a:off x="9784080" y="3017520"/>
            <a:ext cx="1920240" cy="548640"/>
          </a:xfrm>
          <a:prstGeom prst="rect">
            <a:avLst/>
          </a:prstGeom>
          <a:noFill/>
        </p:spPr>
        <p:txBody>
          <a:bodyPr wrap="square" lIns="18288" rIns="18288" tIns="18288" bIns="18288" anchor="t">
            <a:spAutoFit/>
          </a:bodyPr>
          <a:lstStyle/>
          <a:p>
            <a:pPr algn="ctr">
              <a:lnSpc>
                <a:spcPct val="108000"/>
              </a:lnSpc>
            </a:pPr>
            <a:r>
              <a:rPr sz="950" b="0" i="0">
                <a:solidFill>
                  <a:srgbClr val="9AA7B8"/>
                </a:solidFill>
                <a:latin typeface="Arial"/>
              </a:rPr>
              <a:t>github.com/SirAseef/heatflood-sentinel</a:t>
            </a:r>
          </a:p>
        </p:txBody>
      </p:sp>
      <p:sp>
        <p:nvSpPr>
          <p:cNvPr id="14" name="Rounded Rectangle 13"/>
          <p:cNvSpPr/>
          <p:nvPr/>
        </p:nvSpPr>
        <p:spPr>
          <a:xfrm>
            <a:off x="7927848" y="3886200"/>
            <a:ext cx="3712463" cy="457200"/>
          </a:xfrm>
          <a:prstGeom prst="roundRect">
            <a:avLst>
              <a:gd name="adj" fmla="val 15000"/>
            </a:avLst>
          </a:prstGeom>
          <a:solidFill>
            <a:srgbClr val="2A1A10"/>
          </a:solidFill>
          <a:ln w="15875">
            <a:solidFill>
              <a:srgbClr val="F5A5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886200"/>
            <a:ext cx="3438144" cy="457200"/>
          </a:xfrm>
          <a:prstGeom prst="rect">
            <a:avLst/>
          </a:prstGeom>
          <a:noFill/>
        </p:spPr>
        <p:txBody>
          <a:bodyPr wrap="square" lIns="18288" rIns="18288" tIns="18288" bIns="18288" anchor="ctr">
            <a:spAutoFit/>
          </a:bodyPr>
          <a:lstStyle/>
          <a:p>
            <a:pPr algn="l">
              <a:lnSpc>
                <a:spcPct val="108000"/>
              </a:lnSpc>
            </a:pPr>
            <a:r>
              <a:rPr sz="1200" b="1" i="0">
                <a:solidFill>
                  <a:srgbClr val="F5A524"/>
                </a:solidFill>
                <a:latin typeface="Arial"/>
              </a:rPr>
              <a:t>Defence date: [PLACEHOLDER]</a:t>
            </a:r>
          </a:p>
        </p:txBody>
      </p:sp>
      <p:sp>
        <p:nvSpPr>
          <p:cNvPr id="16" name="Rounded Rectangle 15"/>
          <p:cNvSpPr/>
          <p:nvPr/>
        </p:nvSpPr>
        <p:spPr>
          <a:xfrm>
            <a:off x="7927848" y="4434840"/>
            <a:ext cx="3712463" cy="457200"/>
          </a:xfrm>
          <a:prstGeom prst="roundRect">
            <a:avLst>
              <a:gd name="adj" fmla="val 15000"/>
            </a:avLst>
          </a:prstGeom>
          <a:solidFill>
            <a:srgbClr val="2A1A10"/>
          </a:solidFill>
          <a:ln w="15875">
            <a:solidFill>
              <a:srgbClr val="F5A5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5008" y="4434840"/>
            <a:ext cx="3438144" cy="457200"/>
          </a:xfrm>
          <a:prstGeom prst="rect">
            <a:avLst/>
          </a:prstGeom>
          <a:noFill/>
        </p:spPr>
        <p:txBody>
          <a:bodyPr wrap="square" lIns="18288" rIns="18288" tIns="18288" bIns="18288" anchor="ctr">
            <a:spAutoFit/>
          </a:bodyPr>
          <a:lstStyle/>
          <a:p>
            <a:pPr algn="l">
              <a:lnSpc>
                <a:spcPct val="108000"/>
              </a:lnSpc>
            </a:pPr>
            <a:r>
              <a:rPr sz="1200" b="1" i="0">
                <a:solidFill>
                  <a:srgbClr val="F5A524"/>
                </a:solidFill>
                <a:latin typeface="Arial"/>
              </a:rPr>
              <a:t>Examiners: [PLACEHOLDER]</a:t>
            </a:r>
          </a:p>
        </p:txBody>
      </p:sp>
      <p:sp>
        <p:nvSpPr>
          <p:cNvPr id="18" name="TextBox 17"/>
          <p:cNvSpPr txBox="1"/>
          <p:nvPr/>
        </p:nvSpPr>
        <p:spPr>
          <a:xfrm>
            <a:off x="548640" y="5257800"/>
            <a:ext cx="10972800" cy="457200"/>
          </a:xfrm>
          <a:prstGeom prst="rect">
            <a:avLst/>
          </a:prstGeom>
          <a:noFill/>
        </p:spPr>
        <p:txBody>
          <a:bodyPr wrap="square" lIns="18288" rIns="18288" tIns="18288" bIns="18288" anchor="t">
            <a:spAutoFit/>
          </a:bodyPr>
          <a:lstStyle/>
          <a:p>
            <a:pPr algn="l">
              <a:lnSpc>
                <a:spcPct val="108000"/>
              </a:lnSpc>
            </a:pPr>
            <a:r>
              <a:rPr sz="2000" b="1" i="0">
                <a:solidFill>
                  <a:srgbClr val="14B8A6"/>
                </a:solidFill>
                <a:latin typeface="Arial"/>
              </a:rPr>
              <a:t>Thank you — I welcome the committee's questions.</a:t>
            </a:r>
          </a:p>
        </p:txBody>
      </p:sp>
      <p:sp>
        <p:nvSpPr>
          <p:cNvPr id="19" name="TextBox 18"/>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20" name="TextBox 1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1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23360" y="0"/>
            <a:ext cx="73152" cy="6858000"/>
          </a:xfrm>
          <a:prstGeom prst="rect">
            <a:avLst/>
          </a:prstGeom>
          <a:solidFill>
            <a:srgbClr val="9A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3291840" cy="2011680"/>
          </a:xfrm>
          <a:prstGeom prst="rect">
            <a:avLst/>
          </a:prstGeom>
          <a:noFill/>
        </p:spPr>
        <p:txBody>
          <a:bodyPr wrap="square" lIns="18288" rIns="18288" tIns="18288" bIns="18288" anchor="t">
            <a:spAutoFit/>
          </a:bodyPr>
          <a:lstStyle/>
          <a:p>
            <a:pPr algn="l">
              <a:lnSpc>
                <a:spcPct val="108000"/>
              </a:lnSpc>
            </a:pPr>
            <a:r>
              <a:rPr sz="12000" b="1" i="0">
                <a:solidFill>
                  <a:srgbClr val="9AA7B8"/>
                </a:solidFill>
                <a:latin typeface="Arial"/>
              </a:rPr>
              <a:t>B</a:t>
            </a:r>
          </a:p>
        </p:txBody>
      </p:sp>
      <p:sp>
        <p:nvSpPr>
          <p:cNvPr id="6" name="TextBox 5"/>
          <p:cNvSpPr txBox="1"/>
          <p:nvPr/>
        </p:nvSpPr>
        <p:spPr>
          <a:xfrm>
            <a:off x="594360" y="4069080"/>
            <a:ext cx="3200400" cy="365760"/>
          </a:xfrm>
          <a:prstGeom prst="rect">
            <a:avLst/>
          </a:prstGeom>
          <a:noFill/>
        </p:spPr>
        <p:txBody>
          <a:bodyPr wrap="square" lIns="18288" rIns="18288" tIns="18288" bIns="18288" anchor="t">
            <a:spAutoFit/>
          </a:bodyPr>
          <a:lstStyle/>
          <a:p>
            <a:pPr algn="l">
              <a:lnSpc>
                <a:spcPct val="108000"/>
              </a:lnSpc>
            </a:pPr>
            <a:r>
              <a:rPr sz="1300" b="1" i="0">
                <a:solidFill>
                  <a:srgbClr val="9AA7B8"/>
                </a:solidFill>
                <a:latin typeface="Arial"/>
              </a:rPr>
              <a:t>SECTION</a:t>
            </a:r>
          </a:p>
        </p:txBody>
      </p:sp>
      <p:sp>
        <p:nvSpPr>
          <p:cNvPr id="7" name="TextBox 6"/>
          <p:cNvSpPr txBox="1"/>
          <p:nvPr/>
        </p:nvSpPr>
        <p:spPr>
          <a:xfrm>
            <a:off x="4663440" y="2148840"/>
            <a:ext cx="6949440" cy="1463040"/>
          </a:xfrm>
          <a:prstGeom prst="rect">
            <a:avLst/>
          </a:prstGeom>
          <a:noFill/>
        </p:spPr>
        <p:txBody>
          <a:bodyPr wrap="square" lIns="18288" rIns="18288" tIns="18288" bIns="18288" anchor="t">
            <a:spAutoFit/>
          </a:bodyPr>
          <a:lstStyle/>
          <a:p>
            <a:pPr algn="l">
              <a:lnSpc>
                <a:spcPct val="100000"/>
              </a:lnSpc>
            </a:pPr>
            <a:r>
              <a:rPr sz="4000" b="1" i="0">
                <a:solidFill>
                  <a:srgbClr val="E8EDF5"/>
                </a:solidFill>
                <a:latin typeface="Arial"/>
              </a:rPr>
              <a:t>Backup slides</a:t>
            </a:r>
          </a:p>
        </p:txBody>
      </p:sp>
      <p:sp>
        <p:nvSpPr>
          <p:cNvPr id="8" name="TextBox 7"/>
          <p:cNvSpPr txBox="1"/>
          <p:nvPr/>
        </p:nvSpPr>
        <p:spPr>
          <a:xfrm>
            <a:off x="4663440" y="3703320"/>
            <a:ext cx="6766560" cy="1371600"/>
          </a:xfrm>
          <a:prstGeom prst="rect">
            <a:avLst/>
          </a:prstGeom>
          <a:noFill/>
        </p:spPr>
        <p:txBody>
          <a:bodyPr wrap="square" lIns="18288" rIns="18288" tIns="18288" bIns="18288" anchor="t">
            <a:spAutoFit/>
          </a:bodyPr>
          <a:lstStyle/>
          <a:p>
            <a:pPr algn="l">
              <a:lnSpc>
                <a:spcPct val="115000"/>
              </a:lnSpc>
            </a:pPr>
            <a:r>
              <a:rPr sz="1900" b="0" i="0">
                <a:solidFill>
                  <a:srgbClr val="9AA7B8"/>
                </a:solidFill>
                <a:latin typeface="Arial"/>
              </a:rPr>
              <a:t>Full tables for questions: forecasting leaderboards, detection metrics and fault-injection results.</a:t>
            </a:r>
          </a:p>
        </p:txBody>
      </p:sp>
      <p:sp>
        <p:nvSpPr>
          <p:cNvPr id="9" name="TextBox 8"/>
          <p:cNvSpPr txBox="1"/>
          <p:nvPr/>
        </p:nvSpPr>
        <p:spPr>
          <a:xfrm>
            <a:off x="4663440" y="6428232"/>
            <a:ext cx="64008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10" name="TextBox 9"/>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9A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9AA7B8"/>
                </a:solidFill>
                <a:latin typeface="Arial"/>
              </a:rPr>
              <a:t>BACKUP · DAILY LEADERBOARDS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800" b="1" i="0">
                <a:solidFill>
                  <a:srgbClr val="E8EDF5"/>
                </a:solidFill>
                <a:latin typeface="Arial"/>
              </a:rPr>
              <a:t>Daily Tmax and precipitation RMSE by model and lead in 2022</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39</a:t>
            </a:r>
          </a:p>
        </p:txBody>
      </p:sp>
      <p:graphicFrame>
        <p:nvGraphicFramePr>
          <p:cNvPr id="8" name="Table 7"/>
          <p:cNvGraphicFramePr>
            <a:graphicFrameLocks noGrp="1"/>
          </p:cNvGraphicFramePr>
          <p:nvPr/>
        </p:nvGraphicFramePr>
        <p:xfrm>
          <a:off x="548640" y="1783080"/>
          <a:ext cx="11091672" cy="3291840"/>
        </p:xfrm>
        <a:graphic>
          <a:graphicData uri="http://schemas.openxmlformats.org/drawingml/2006/table">
            <a:tbl>
              <a:tblPr firstRow="1" bandRow="1">
                <a:tableStyleId>{5940675A-B579-460E-94D1-54222C63F5DA}</a:tableStyleId>
              </a:tblPr>
              <a:tblGrid>
                <a:gridCol w="2039112"/>
                <a:gridCol w="1508760"/>
                <a:gridCol w="1508760"/>
                <a:gridCol w="1508760"/>
                <a:gridCol w="1508760"/>
                <a:gridCol w="1508760"/>
                <a:gridCol w="1508760"/>
              </a:tblGrid>
              <a:tr h="548640">
                <a:tc>
                  <a:txBody>
                    <a:bodyPr wrap="square"/>
                    <a:lstStyle/>
                    <a:p>
                      <a:r>
                        <a:rPr sz="1400" b="1">
                          <a:solidFill>
                            <a:srgbClr val="F5A524"/>
                          </a:solidFill>
                          <a:latin typeface="Arial"/>
                        </a:rPr>
                        <a:t>Model</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Tmax +1 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Tmax +3 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Tmax +7 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Precip. +1 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Precip. +3 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F5A524"/>
                          </a:solidFill>
                          <a:latin typeface="Arial"/>
                        </a:rPr>
                        <a:t>Precip. +7 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548640">
                <a:tc>
                  <a:txBody>
                    <a:bodyPr wrap="square"/>
                    <a:lstStyle/>
                    <a:p>
                      <a:r>
                        <a:rPr sz="1400" b="1">
                          <a:solidFill>
                            <a:srgbClr val="E8EDF5"/>
                          </a:solidFill>
                          <a:latin typeface="Arial"/>
                        </a:rPr>
                        <a:t>Persistence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1.881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2.992</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3.832</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6.346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7.566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7.642</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48640">
                <a:tc>
                  <a:txBody>
                    <a:bodyPr wrap="square"/>
                    <a:lstStyle/>
                    <a:p>
                      <a:r>
                        <a:rPr sz="1400" b="1">
                          <a:solidFill>
                            <a:srgbClr val="E8EDF5"/>
                          </a:solidFill>
                          <a:latin typeface="Arial"/>
                        </a:rPr>
                        <a:t>Climatology</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3.377</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3.378</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3.355</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5.841</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22C55E"/>
                          </a:solidFill>
                          <a:latin typeface="Arial"/>
                        </a:rPr>
                        <a:t>5.840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22C55E"/>
                          </a:solidFill>
                          <a:latin typeface="Arial"/>
                        </a:rPr>
                        <a:t>5.652</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48640">
                <a:tc>
                  <a:txBody>
                    <a:bodyPr wrap="square"/>
                    <a:lstStyle/>
                    <a:p>
                      <a:r>
                        <a:rPr sz="1400" b="1">
                          <a:solidFill>
                            <a:srgbClr val="E8EDF5"/>
                          </a:solidFill>
                          <a:latin typeface="Arial"/>
                        </a:rPr>
                        <a:t>SARIMA</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1.834</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22C55E"/>
                          </a:solidFill>
                          <a:latin typeface="Arial"/>
                        </a:rPr>
                        <a:t>2.772</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22C55E"/>
                          </a:solidFill>
                          <a:latin typeface="Arial"/>
                        </a:rPr>
                        <a:t>3.194</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22C55E"/>
                          </a:solidFill>
                          <a:latin typeface="Arial"/>
                        </a:rPr>
                        <a:t>5.656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5.996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5.809</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48640">
                <a:tc>
                  <a:txBody>
                    <a:bodyPr wrap="square"/>
                    <a:lstStyle/>
                    <a:p>
                      <a:r>
                        <a:rPr sz="1400" b="1">
                          <a:solidFill>
                            <a:srgbClr val="E8EDF5"/>
                          </a:solidFill>
                          <a:latin typeface="Arial"/>
                        </a:rPr>
                        <a:t>XGBoost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1">
                          <a:solidFill>
                            <a:srgbClr val="22C55E"/>
                          </a:solidFill>
                          <a:latin typeface="Arial"/>
                        </a:rPr>
                        <a:t>1.822</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2.859</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3.248</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5.697</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5.994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5.827</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48640">
                <a:tc>
                  <a:txBody>
                    <a:bodyPr wrap="square"/>
                    <a:lstStyle/>
                    <a:p>
                      <a:r>
                        <a:rPr sz="1400" b="1">
                          <a:solidFill>
                            <a:srgbClr val="E8EDF5"/>
                          </a:solidFill>
                          <a:latin typeface="Arial"/>
                        </a:rPr>
                        <a:t>LSTM</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1.871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2.831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3.209</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5.677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5.946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400" b="0">
                          <a:solidFill>
                            <a:srgbClr val="E8EDF5"/>
                          </a:solidFill>
                          <a:latin typeface="Arial"/>
                        </a:rPr>
                        <a:t>5.756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TextBox 8"/>
          <p:cNvSpPr txBox="1"/>
          <p:nvPr/>
        </p:nvSpPr>
        <p:spPr>
          <a:xfrm>
            <a:off x="548640" y="5257800"/>
            <a:ext cx="11064240" cy="457200"/>
          </a:xfrm>
          <a:prstGeom prst="rect">
            <a:avLst/>
          </a:prstGeom>
          <a:noFill/>
        </p:spPr>
        <p:txBody>
          <a:bodyPr wrap="square" lIns="18288" rIns="18288" tIns="18288" bIns="18288" anchor="t">
            <a:spAutoFit/>
          </a:bodyPr>
          <a:lstStyle/>
          <a:p>
            <a:pPr algn="l">
              <a:lnSpc>
                <a:spcPct val="108000"/>
              </a:lnSpc>
            </a:pPr>
            <a:r>
              <a:rPr sz="1300" b="0" i="0">
                <a:solidFill>
                  <a:srgbClr val="9AA7B8"/>
                </a:solidFill>
                <a:latin typeface="Arial"/>
              </a:rPr>
              <a:t>RMSE in °C (Tmax) and mm (precipitation); best per column in green. Test year 2022, 20 cities.</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results/tables/leaderboard_daily.csv; RESULTS.md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9A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9AA7B8"/>
                </a:solidFill>
                <a:latin typeface="Arial"/>
              </a:rPr>
              <a:t>BACKUP · DETECTION METRICS</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Full detection metrics for both hazards on the 2022 test year</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40</a:t>
            </a:r>
          </a:p>
        </p:txBody>
      </p:sp>
      <p:graphicFrame>
        <p:nvGraphicFramePr>
          <p:cNvPr id="8" name="Table 7"/>
          <p:cNvGraphicFramePr>
            <a:graphicFrameLocks noGrp="1"/>
          </p:cNvGraphicFramePr>
          <p:nvPr/>
        </p:nvGraphicFramePr>
        <p:xfrm>
          <a:off x="548640" y="1737360"/>
          <a:ext cx="11091672" cy="4251960"/>
        </p:xfrm>
        <a:graphic>
          <a:graphicData uri="http://schemas.openxmlformats.org/drawingml/2006/table">
            <a:tbl>
              <a:tblPr firstRow="1" bandRow="1">
                <a:tableStyleId>{5940675A-B579-460E-94D1-54222C63F5DA}</a:tableStyleId>
              </a:tblPr>
              <a:tblGrid>
                <a:gridCol w="1828800"/>
                <a:gridCol w="2496312"/>
                <a:gridCol w="1097280"/>
                <a:gridCol w="1097280"/>
                <a:gridCol w="1097280"/>
                <a:gridCol w="1097280"/>
                <a:gridCol w="1188720"/>
                <a:gridCol w="1188720"/>
              </a:tblGrid>
              <a:tr h="354330">
                <a:tc>
                  <a:txBody>
                    <a:bodyPr wrap="square"/>
                    <a:lstStyle/>
                    <a:p>
                      <a:r>
                        <a:rPr sz="1200" b="1">
                          <a:solidFill>
                            <a:srgbClr val="F5A524"/>
                          </a:solidFill>
                          <a:latin typeface="Arial"/>
                        </a:rPr>
                        <a:t>Hazard · lead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Model</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CSI</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POD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FAR</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F1</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ROC-AUC</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1">
                          <a:solidFill>
                            <a:srgbClr val="F5A524"/>
                          </a:solidFill>
                          <a:latin typeface="Arial"/>
                        </a:rPr>
                        <a:t>PR-AUC</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1d</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Persistence rule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0.717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0.835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0.165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0.835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1d</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LSTM forecast + rule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0.253</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0.258</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0.066</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0.404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1d</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XGBoost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0.356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0.407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0.261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0.525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0.943</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0.589</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3d</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Persistence rule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0.348</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0.517</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0.485</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0.516</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3d</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LSTM forecast + rule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0.014</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3d</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XGBoost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0.814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0.209</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Flash flood · 6h</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Persistence rule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0.585</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0.738</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0.262</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0.738</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Flash flood · 6h</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XGBoost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0.609</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0.723</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0.206</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0.757</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0.984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0.814</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Flash flood · 24h</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Persistence rule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0.136</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0.240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0.760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0.240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Flash flood · 24h</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XGBoost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0.000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0.939</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0.216</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354330">
                <a:tc>
                  <a:txBody>
                    <a:bodyPr wrap="square"/>
                    <a:lstStyle/>
                    <a:p>
                      <a:r>
                        <a:rPr sz="1200" b="1">
                          <a:solidFill>
                            <a:srgbClr val="E8EDF5"/>
                          </a:solidFill>
                          <a:latin typeface="Arial"/>
                        </a:rPr>
                        <a:t>Heatwave · 1d</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Spark MLlib GBT</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0.367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0.443</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0.317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0.537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0.947</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200" b="0">
                          <a:solidFill>
                            <a:srgbClr val="E8EDF5"/>
                          </a:solidFill>
                          <a:latin typeface="Arial"/>
                        </a:rPr>
                        <a:t>0.618</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TextBox 8"/>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results/tables/detection_test.csv; results/bigdata/mllib_baseline.json; FAR '—' = no alerts issued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152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9A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601200" cy="274320"/>
          </a:xfrm>
          <a:prstGeom prst="rect">
            <a:avLst/>
          </a:prstGeom>
          <a:noFill/>
        </p:spPr>
        <p:txBody>
          <a:bodyPr wrap="square" lIns="18288" rIns="18288" tIns="18288" bIns="18288" anchor="t">
            <a:spAutoFit/>
          </a:bodyPr>
          <a:lstStyle/>
          <a:p>
            <a:pPr algn="l">
              <a:lnSpc>
                <a:spcPct val="108000"/>
              </a:lnSpc>
            </a:pPr>
            <a:r>
              <a:rPr sz="1150" b="1" i="0">
                <a:solidFill>
                  <a:srgbClr val="9AA7B8"/>
                </a:solidFill>
                <a:latin typeface="Arial"/>
              </a:rPr>
              <a:t>BACKUP · FAULT INJECTION</a:t>
            </a:r>
          </a:p>
        </p:txBody>
      </p:sp>
      <p:sp>
        <p:nvSpPr>
          <p:cNvPr id="4" name="TextBox 3"/>
          <p:cNvSpPr txBox="1"/>
          <p:nvPr/>
        </p:nvSpPr>
        <p:spPr>
          <a:xfrm>
            <a:off x="548640" y="603504"/>
            <a:ext cx="11064240" cy="868680"/>
          </a:xfrm>
          <a:prstGeom prst="rect">
            <a:avLst/>
          </a:prstGeom>
          <a:noFill/>
        </p:spPr>
        <p:txBody>
          <a:bodyPr wrap="square" lIns="18288" rIns="18288" tIns="18288" bIns="18288" anchor="t">
            <a:spAutoFit/>
          </a:bodyPr>
          <a:lstStyle/>
          <a:p>
            <a:pPr algn="l">
              <a:lnSpc>
                <a:spcPct val="98000"/>
              </a:lnSpc>
            </a:pPr>
            <a:r>
              <a:rPr sz="2500" b="1" i="0">
                <a:solidFill>
                  <a:srgbClr val="E8EDF5"/>
                </a:solidFill>
                <a:latin typeface="Arial"/>
              </a:rPr>
              <a:t>Six injected fault types caused no crash and no duplicate alerts</a:t>
            </a:r>
          </a:p>
        </p:txBody>
      </p:sp>
      <p:sp>
        <p:nvSpPr>
          <p:cNvPr id="5" name="Rectangle 4"/>
          <p:cNvSpPr/>
          <p:nvPr/>
        </p:nvSpPr>
        <p:spPr>
          <a:xfrm>
            <a:off x="548640" y="1536192"/>
            <a:ext cx="11091672" cy="18288"/>
          </a:xfrm>
          <a:prstGeom prst="rect">
            <a:avLst/>
          </a:prstGeom>
          <a:solidFill>
            <a:srgbClr val="2A3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28232"/>
            <a:ext cx="8229600" cy="274320"/>
          </a:xfrm>
          <a:prstGeom prst="rect">
            <a:avLst/>
          </a:prstGeom>
          <a:noFill/>
        </p:spPr>
        <p:txBody>
          <a:bodyPr wrap="square" lIns="18288" rIns="18288" tIns="18288" bIns="18288" anchor="t">
            <a:spAutoFit/>
          </a:bodyPr>
          <a:lstStyle/>
          <a:p>
            <a:pPr algn="l">
              <a:lnSpc>
                <a:spcPct val="108000"/>
              </a:lnSpc>
            </a:pPr>
            <a:r>
              <a:rPr sz="950" b="0" i="0">
                <a:solidFill>
                  <a:srgbClr val="9AA7B8"/>
                </a:solidFill>
                <a:latin typeface="Arial"/>
              </a:rPr>
              <a:t>NED UET · CSIT · MS Data Science · Aseef Ahmed (DS-029/2025/26)</a:t>
            </a:r>
          </a:p>
        </p:txBody>
      </p:sp>
      <p:sp>
        <p:nvSpPr>
          <p:cNvPr id="7" name="TextBox 6"/>
          <p:cNvSpPr txBox="1"/>
          <p:nvPr/>
        </p:nvSpPr>
        <p:spPr>
          <a:xfrm>
            <a:off x="10881360" y="6428232"/>
            <a:ext cx="777240" cy="274320"/>
          </a:xfrm>
          <a:prstGeom prst="rect">
            <a:avLst/>
          </a:prstGeom>
          <a:noFill/>
        </p:spPr>
        <p:txBody>
          <a:bodyPr wrap="square" lIns="18288" rIns="18288" tIns="18288" bIns="18288" anchor="t">
            <a:spAutoFit/>
          </a:bodyPr>
          <a:lstStyle/>
          <a:p>
            <a:pPr algn="r">
              <a:lnSpc>
                <a:spcPct val="108000"/>
              </a:lnSpc>
            </a:pPr>
            <a:r>
              <a:rPr sz="1000" b="0" i="0">
                <a:solidFill>
                  <a:srgbClr val="9AA7B8"/>
                </a:solidFill>
                <a:latin typeface="Arial"/>
              </a:rPr>
              <a:t>41</a:t>
            </a:r>
          </a:p>
        </p:txBody>
      </p:sp>
      <p:graphicFrame>
        <p:nvGraphicFramePr>
          <p:cNvPr id="8" name="Table 7"/>
          <p:cNvGraphicFramePr>
            <a:graphicFrameLocks noGrp="1"/>
          </p:cNvGraphicFramePr>
          <p:nvPr/>
        </p:nvGraphicFramePr>
        <p:xfrm>
          <a:off x="548640" y="1737360"/>
          <a:ext cx="11091672" cy="3566157"/>
        </p:xfrm>
        <a:graphic>
          <a:graphicData uri="http://schemas.openxmlformats.org/drawingml/2006/table">
            <a:tbl>
              <a:tblPr firstRow="1" bandRow="1">
                <a:tableStyleId>{5940675A-B579-460E-94D1-54222C63F5DA}</a:tableStyleId>
              </a:tblPr>
              <a:tblGrid>
                <a:gridCol w="2651760"/>
                <a:gridCol w="1463040"/>
                <a:gridCol w="2770632"/>
                <a:gridCol w="1737360"/>
                <a:gridCol w="1097280"/>
                <a:gridCol w="1371600"/>
              </a:tblGrid>
              <a:tr h="509451">
                <a:tc>
                  <a:txBody>
                    <a:bodyPr wrap="square"/>
                    <a:lstStyle/>
                    <a:p>
                      <a:r>
                        <a:rPr sz="1300" b="1">
                          <a:solidFill>
                            <a:srgbClr val="F5A524"/>
                          </a:solidFill>
                          <a:latin typeface="Arial"/>
                        </a:rPr>
                        <a:t>Fault mode</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Messages in</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Dead-letter (reason)</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Alerts vs baseline</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Crashed</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1">
                          <a:solidFill>
                            <a:srgbClr val="F5A524"/>
                          </a:solidFill>
                          <a:latin typeface="Arial"/>
                        </a:rPr>
                        <a:t>Duplicate alerts</a:t>
                      </a:r>
                    </a:p>
                  </a:txBody>
                  <a:tcPr marL="73152" marR="73152" marT="27432" marB="27432" anchor="ctr">
                    <a:solidFill>
                      <a:srgbClr val="16233A"/>
                    </a:solidFill>
                    <a:lnL w="6350">
                      <a:solidFill>
                        <a:srgbClr val="2A3850"/>
                      </a:solidFill>
                    </a:lnL>
                    <a:lnR w="6350">
                      <a:solidFill>
                        <a:srgbClr val="2A3850"/>
                      </a:solidFill>
                    </a:lnR>
                    <a:lnT w="6350">
                      <a:solidFill>
                        <a:srgbClr val="2A3850"/>
                      </a:solidFill>
                    </a:lnT>
                    <a:lnB w="6350">
                      <a:solidFill>
                        <a:srgbClr val="2A3850"/>
                      </a:solidFill>
                    </a:lnB>
                  </a:tcPr>
                </a:tc>
              </a:tr>
              <a:tr h="509451">
                <a:tc>
                  <a:txBody>
                    <a:bodyPr wrap="square"/>
                    <a:lstStyle/>
                    <a:p>
                      <a:r>
                        <a:rPr sz="1300" b="1">
                          <a:solidFill>
                            <a:srgbClr val="E8EDF5"/>
                          </a:solidFill>
                          <a:latin typeface="Arial"/>
                        </a:rPr>
                        <a:t>Duplicate messages</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15,213</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333 duplicate</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384 (+0)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No</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09451">
                <a:tc>
                  <a:txBody>
                    <a:bodyPr wrap="square"/>
                    <a:lstStyle/>
                    <a:p>
                      <a:r>
                        <a:rPr sz="1300" b="1">
                          <a:solidFill>
                            <a:srgbClr val="E8EDF5"/>
                          </a:solidFill>
                          <a:latin typeface="Arial"/>
                        </a:rPr>
                        <a:t>Corrupt records</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14,880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333 schema/range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383 (-1)</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No</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09451">
                <a:tc>
                  <a:txBody>
                    <a:bodyPr wrap="square"/>
                    <a:lstStyle/>
                    <a:p>
                      <a:r>
                        <a:rPr sz="1300" b="1">
                          <a:solidFill>
                            <a:srgbClr val="E8EDF5"/>
                          </a:solidFill>
                          <a:latin typeface="Arial"/>
                        </a:rPr>
                        <a:t>Out-of-order</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14,880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384 (+0)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No</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09451">
                <a:tc>
                  <a:txBody>
                    <a:bodyPr wrap="square"/>
                    <a:lstStyle/>
                    <a:p>
                      <a:r>
                        <a:rPr sz="1300" b="1">
                          <a:solidFill>
                            <a:srgbClr val="E8EDF5"/>
                          </a:solidFill>
                          <a:latin typeface="Arial"/>
                        </a:rPr>
                        <a:t>Delayed beyond watermark</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14,846</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299 late beyond watermark</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383 (-1)</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No</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r h="509451">
                <a:tc>
                  <a:txBody>
                    <a:bodyPr wrap="square"/>
                    <a:lstStyle/>
                    <a:p>
                      <a:r>
                        <a:rPr sz="1300" b="1">
                          <a:solidFill>
                            <a:srgbClr val="E8EDF5"/>
                          </a:solidFill>
                          <a:latin typeface="Arial"/>
                        </a:rPr>
                        <a:t>Missing data</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14,880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383 (-1)</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No</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111C2E"/>
                    </a:solidFill>
                    <a:lnL w="6350">
                      <a:solidFill>
                        <a:srgbClr val="2A3850"/>
                      </a:solidFill>
                    </a:lnL>
                    <a:lnR w="6350">
                      <a:solidFill>
                        <a:srgbClr val="2A3850"/>
                      </a:solidFill>
                    </a:lnR>
                    <a:lnT w="6350">
                      <a:solidFill>
                        <a:srgbClr val="2A3850"/>
                      </a:solidFill>
                    </a:lnT>
                    <a:lnB w="6350">
                      <a:solidFill>
                        <a:srgbClr val="2A3850"/>
                      </a:solidFill>
                    </a:lnB>
                  </a:tcPr>
                </a:tc>
              </a:tr>
              <a:tr h="509451">
                <a:tc>
                  <a:txBody>
                    <a:bodyPr wrap="square"/>
                    <a:lstStyle/>
                    <a:p>
                      <a:r>
                        <a:rPr sz="1300" b="1">
                          <a:solidFill>
                            <a:srgbClr val="E8EDF5"/>
                          </a:solidFill>
                          <a:latin typeface="Arial"/>
                        </a:rPr>
                        <a:t>Source outage</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13,440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342 (-42)</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No</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c>
                  <a:txBody>
                    <a:bodyPr wrap="square"/>
                    <a:lstStyle/>
                    <a:p>
                      <a:r>
                        <a:rPr sz="1300" b="0">
                          <a:solidFill>
                            <a:srgbClr val="E8EDF5"/>
                          </a:solidFill>
                          <a:latin typeface="Arial"/>
                        </a:rPr>
                        <a:t>0</a:t>
                      </a:r>
                    </a:p>
                  </a:txBody>
                  <a:tcPr marL="73152" marR="73152" marT="27432" marB="27432" anchor="ctr">
                    <a:solidFill>
                      <a:srgbClr val="0B1526"/>
                    </a:solidFill>
                    <a:lnL w="6350">
                      <a:solidFill>
                        <a:srgbClr val="2A3850"/>
                      </a:solidFill>
                    </a:lnL>
                    <a:lnR w="6350">
                      <a:solidFill>
                        <a:srgbClr val="2A3850"/>
                      </a:solidFill>
                    </a:lnR>
                    <a:lnT w="6350">
                      <a:solidFill>
                        <a:srgbClr val="2A3850"/>
                      </a:solidFill>
                    </a:lnT>
                    <a:lnB w="6350">
                      <a:solidFill>
                        <a:srgbClr val="2A3850"/>
                      </a:solidFill>
                    </a:lnB>
                  </a:tcPr>
                </a:tc>
              </a:tr>
            </a:tbl>
          </a:graphicData>
        </a:graphic>
      </p:graphicFrame>
      <p:sp>
        <p:nvSpPr>
          <p:cNvPr id="9" name="TextBox 8"/>
          <p:cNvSpPr txBox="1"/>
          <p:nvPr/>
        </p:nvSpPr>
        <p:spPr>
          <a:xfrm>
            <a:off x="548640" y="5440680"/>
            <a:ext cx="11064240" cy="457200"/>
          </a:xfrm>
          <a:prstGeom prst="rect">
            <a:avLst/>
          </a:prstGeom>
          <a:noFill/>
        </p:spPr>
        <p:txBody>
          <a:bodyPr wrap="square" lIns="18288" rIns="18288" tIns="18288" bIns="18288" anchor="t">
            <a:spAutoFit/>
          </a:bodyPr>
          <a:lstStyle/>
          <a:p>
            <a:pPr algn="l">
              <a:lnSpc>
                <a:spcPct val="108000"/>
              </a:lnSpc>
            </a:pPr>
            <a:r>
              <a:rPr sz="1300" b="0" i="0">
                <a:solidFill>
                  <a:srgbClr val="9AA7B8"/>
                </a:solidFill>
                <a:latin typeface="Arial"/>
              </a:rPr>
              <a:t>Baseline window: 384 alerts. Kill-and-restart: killed after batch 18, restored from batch 15, 0 lost and 0 duplicate alerts.</a:t>
            </a:r>
          </a:p>
        </p:txBody>
      </p:sp>
      <p:sp>
        <p:nvSpPr>
          <p:cNvPr id="10" name="TextBox 9"/>
          <p:cNvSpPr txBox="1"/>
          <p:nvPr/>
        </p:nvSpPr>
        <p:spPr>
          <a:xfrm>
            <a:off x="548640" y="6108192"/>
            <a:ext cx="11064240" cy="274320"/>
          </a:xfrm>
          <a:prstGeom prst="rect">
            <a:avLst/>
          </a:prstGeom>
          <a:noFill/>
        </p:spPr>
        <p:txBody>
          <a:bodyPr wrap="square" lIns="18288" rIns="18288" tIns="18288" bIns="18288" anchor="t">
            <a:spAutoFit/>
          </a:bodyPr>
          <a:lstStyle/>
          <a:p>
            <a:pPr algn="l">
              <a:lnSpc>
                <a:spcPct val="108000"/>
              </a:lnSpc>
            </a:pPr>
            <a:r>
              <a:rPr sz="950" b="0" i="1">
                <a:solidFill>
                  <a:srgbClr val="9AA7B8"/>
                </a:solidFill>
                <a:latin typeface="Arial"/>
              </a:rPr>
              <a:t>Source: results/streaming_local.json → chaos (31-batch window, local runtime)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